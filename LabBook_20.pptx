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0"/>
  </p:notesMasterIdLst>
  <p:handoutMasterIdLst>
    <p:handoutMasterId r:id="rId31"/>
  </p:handoutMasterIdLst>
  <p:sldIdLst>
    <p:sldId id="256" r:id="rId2"/>
    <p:sldId id="289" r:id="rId3"/>
    <p:sldId id="295" r:id="rId4"/>
    <p:sldId id="304" r:id="rId5"/>
    <p:sldId id="302" r:id="rId6"/>
    <p:sldId id="303" r:id="rId7"/>
    <p:sldId id="305" r:id="rId8"/>
    <p:sldId id="291" r:id="rId9"/>
    <p:sldId id="306" r:id="rId10"/>
    <p:sldId id="296" r:id="rId11"/>
    <p:sldId id="293" r:id="rId12"/>
    <p:sldId id="294" r:id="rId13"/>
    <p:sldId id="307" r:id="rId14"/>
    <p:sldId id="299" r:id="rId15"/>
    <p:sldId id="308" r:id="rId16"/>
    <p:sldId id="300" r:id="rId17"/>
    <p:sldId id="309" r:id="rId18"/>
    <p:sldId id="301" r:id="rId19"/>
    <p:sldId id="310" r:id="rId20"/>
    <p:sldId id="290" r:id="rId21"/>
    <p:sldId id="311" r:id="rId22"/>
    <p:sldId id="297" r:id="rId23"/>
    <p:sldId id="312" r:id="rId24"/>
    <p:sldId id="292" r:id="rId25"/>
    <p:sldId id="313" r:id="rId26"/>
    <p:sldId id="298" r:id="rId27"/>
    <p:sldId id="314" r:id="rId28"/>
    <p:sldId id="288" r:id="rId29"/>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9E4FFB-E431-0F4D-ED87-FC6C47517DFE}" v="14" dt="2026-05-03T14:40:37.13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38" autoAdjust="0"/>
    <p:restoredTop sz="95033" autoAdjust="0"/>
  </p:normalViewPr>
  <p:slideViewPr>
    <p:cSldViewPr>
      <p:cViewPr varScale="1">
        <p:scale>
          <a:sx n="124" d="100"/>
          <a:sy n="124" d="100"/>
        </p:scale>
        <p:origin x="612" y="102"/>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ias San Martin Diehl" userId="S::esanmar2@upv.edu.es::c38c0557-adde-461d-a1bd-22239621d8b6" providerId="AD" clId="Web-{749E4FFB-E431-0F4D-ED87-FC6C47517DFE}"/>
    <pc:docChg chg="modSld">
      <pc:chgData name="Elias San Martin Diehl" userId="S::esanmar2@upv.edu.es::c38c0557-adde-461d-a1bd-22239621d8b6" providerId="AD" clId="Web-{749E4FFB-E431-0F4D-ED87-FC6C47517DFE}" dt="2026-05-03T14:40:37.138" v="6" actId="20577"/>
      <pc:docMkLst>
        <pc:docMk/>
      </pc:docMkLst>
      <pc:sldChg chg="modSp">
        <pc:chgData name="Elias San Martin Diehl" userId="S::esanmar2@upv.edu.es::c38c0557-adde-461d-a1bd-22239621d8b6" providerId="AD" clId="Web-{749E4FFB-E431-0F4D-ED87-FC6C47517DFE}" dt="2026-05-03T14:40:37.138" v="6" actId="20577"/>
        <pc:sldMkLst>
          <pc:docMk/>
          <pc:sldMk cId="0" sldId="256"/>
        </pc:sldMkLst>
        <pc:spChg chg="mod">
          <ac:chgData name="Elias San Martin Diehl" userId="S::esanmar2@upv.edu.es::c38c0557-adde-461d-a1bd-22239621d8b6" providerId="AD" clId="Web-{749E4FFB-E431-0F4D-ED87-FC6C47517DFE}" dt="2026-05-03T14:40:37.138" v="6" actId="20577"/>
          <ac:spMkLst>
            <pc:docMk/>
            <pc:sldMk cId="0" sldId="256"/>
            <ac:spMk id="4"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03/05/2026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03/05/2026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3433115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22</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24</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26</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NUL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sv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3.sv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1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1.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3.svg"/><Relationship Id="rId7"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3.svg"/><Relationship Id="rId7"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3.sv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3.svg"/><Relationship Id="rId7"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2.0.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nchor="t">
            <a:spAutoFit/>
          </a:bodyPr>
          <a:lstStyle/>
          <a:p>
            <a:pPr marL="12700">
              <a:spcBef>
                <a:spcPts val="100"/>
              </a:spcBef>
            </a:pPr>
            <a:r>
              <a:rPr lang="es-ES" spc="165" dirty="0" err="1">
                <a:latin typeface="Arial"/>
                <a:cs typeface="Arial"/>
              </a:rPr>
              <a:t>Student</a:t>
            </a:r>
            <a:r>
              <a:rPr lang="es-ES" spc="165" dirty="0">
                <a:latin typeface="Arial"/>
                <a:cs typeface="Arial"/>
              </a:rPr>
              <a:t>: </a:t>
            </a:r>
            <a:r>
              <a:rPr lang="es-ES" spc="165" dirty="0" err="1">
                <a:latin typeface="Arial"/>
                <a:cs typeface="Arial"/>
              </a:rPr>
              <a:t>Elias</a:t>
            </a:r>
            <a:r>
              <a:rPr lang="es-ES" spc="165" dirty="0">
                <a:latin typeface="Arial"/>
                <a:cs typeface="Arial"/>
              </a:rPr>
              <a:t> San Martin Diehl</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https://github.com/cccanvas-upv/cifoin-lab2.git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COUPLERS_Student.ipynb</a:t>
            </a:r>
            <a:r>
              <a:rPr lang="en-US" kern="0" dirty="0">
                <a:solidFill>
                  <a:sysClr val="windowText" lastClr="000000"/>
                </a:solidFill>
              </a:rPr>
              <a:t>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cross-section in </a:t>
            </a:r>
            <a:r>
              <a:rPr lang="en-US" sz="2500" dirty="0" err="1"/>
              <a:t>GDSFactory</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#1: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407829" y="3793474"/>
            <a:ext cx="11199971" cy="289310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1200" dirty="0">
              <a:latin typeface="Arial" panose="020B0604020202020204" pitchFamily="34" charset="0"/>
              <a:cs typeface="Arial" panose="020B0604020202020204" pitchFamily="34" charset="0"/>
            </a:endParaRPr>
          </a:p>
          <a:p>
            <a:r>
              <a:rPr lang="es-ES" sz="1400" dirty="0"/>
              <a:t>Se ha simulado la sección transversal de un acoplador direccional de dos guías </a:t>
            </a:r>
            <a:r>
              <a:rPr lang="es-ES" sz="1400" dirty="0" err="1"/>
              <a:t>SiN</a:t>
            </a:r>
            <a:r>
              <a:rPr lang="es-ES" sz="1400" dirty="0"/>
              <a:t> paralelas (W = 1,2 </a:t>
            </a:r>
            <a:r>
              <a:rPr lang="es-ES" sz="1400" dirty="0" err="1"/>
              <a:t>μm</a:t>
            </a:r>
            <a:r>
              <a:rPr lang="es-ES" sz="1400" dirty="0"/>
              <a:t>, h = 300 nm, gap = 600 nm, grabado profundo) a λ = 1,55 </a:t>
            </a:r>
            <a:r>
              <a:rPr lang="es-ES" sz="1400" dirty="0" err="1"/>
              <a:t>μm</a:t>
            </a:r>
            <a:r>
              <a:rPr lang="es-ES" sz="1400" dirty="0"/>
              <a:t>. Los cuatro primeros modos obtenidos son: TE par/impar (modos 0 y 1) y TM par/impar (modos 2 y 3), verificados con .</a:t>
            </a:r>
            <a:r>
              <a:rPr lang="es-ES" sz="1400" dirty="0" err="1"/>
              <a:t>fraction_te</a:t>
            </a:r>
            <a:r>
              <a:rPr lang="es-ES" sz="1400" dirty="0"/>
              <a:t> y .</a:t>
            </a:r>
            <a:r>
              <a:rPr lang="es-ES" sz="1400" dirty="0" err="1"/>
              <a:t>fraction_tm</a:t>
            </a:r>
            <a:r>
              <a:rPr lang="es-ES" sz="1400" dirty="0"/>
              <a:t>. Los campos confirman la simetría esperada —lóbulos del mismo signo en los modos par y de signo opuesto en los impares—, siendo el batido entre estos el mecanismo de intercambio de potencia entre guías.</a:t>
            </a:r>
          </a:p>
          <a:p>
            <a:r>
              <a:rPr lang="es-ES" sz="1400" dirty="0"/>
              <a:t>Aplicando L_π = λ / [2·(</a:t>
            </a:r>
            <a:r>
              <a:rPr lang="es-ES" sz="1400" dirty="0" err="1"/>
              <a:t>n_par</a:t>
            </a:r>
            <a:r>
              <a:rPr lang="es-ES" sz="1400" dirty="0"/>
              <a:t> − </a:t>
            </a:r>
            <a:r>
              <a:rPr lang="es-ES" sz="1400" dirty="0" err="1"/>
              <a:t>n_impar</a:t>
            </a:r>
            <a:r>
              <a:rPr lang="es-ES" sz="1400" dirty="0"/>
              <a:t>)] se obtiene L_π(TE) = 93,84 </a:t>
            </a:r>
            <a:r>
              <a:rPr lang="es-ES" sz="1400" dirty="0" err="1"/>
              <a:t>μm</a:t>
            </a:r>
            <a:r>
              <a:rPr lang="es-ES" sz="1400" dirty="0"/>
              <a:t> y L_π(TM) = 52,26 </a:t>
            </a:r>
            <a:r>
              <a:rPr lang="es-ES" sz="1400" dirty="0" err="1"/>
              <a:t>μm</a:t>
            </a:r>
            <a:r>
              <a:rPr lang="es-ES" sz="1400" dirty="0"/>
              <a:t>, en concordancia con .</a:t>
            </a:r>
            <a:r>
              <a:rPr lang="es-ES" sz="1400" dirty="0" err="1"/>
              <a:t>coupling_length</a:t>
            </a:r>
            <a:r>
              <a:rPr lang="es-ES" sz="1400" dirty="0"/>
              <a:t>(). La diferencia entre ambos valores evidencia la birrefringencia del dispositivo: la TM, con menor confinamiento vertical y mayor solapamiento en el gap, acopla casi el doble de rápido que la TE, lo que impide un reparto 50:50 simultáneo para ambas polarizaciones.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Directional coupler length and coupling coefficient</a:t>
            </a:r>
            <a:br>
              <a:rPr lang="en-US" sz="2500" spc="-5" dirty="0">
                <a:latin typeface="+mj-lt"/>
                <a:cs typeface="Lucida Sans"/>
              </a:rPr>
            </a:br>
            <a:r>
              <a:rPr lang="en-US" b="0" dirty="0"/>
              <a:t>Wavelength 1.5 µm – width 1.2 µm – gap 0.6 µm – thickness 300 nm</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85800" y="4342562"/>
            <a:ext cx="11199972" cy="2000548"/>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(distance needed for a complete energy transfer between waveguides, distance needed for splitting power in half.. )</a:t>
            </a:r>
          </a:p>
          <a:p>
            <a:r>
              <a:rPr lang="es-ES" sz="1400" dirty="0"/>
              <a:t>La gráfica muestra el coeficiente de acoplamiento K en función de la longitud normalizada L/L_π para el acoplador direccional de </a:t>
            </a:r>
            <a:r>
              <a:rPr lang="es-ES" sz="1400" dirty="0" err="1"/>
              <a:t>SiN</a:t>
            </a:r>
            <a:r>
              <a:rPr lang="es-ES" sz="1400" dirty="0"/>
              <a:t> (W = 1,2 </a:t>
            </a:r>
            <a:r>
              <a:rPr lang="es-ES" sz="1400" dirty="0" err="1"/>
              <a:t>μm</a:t>
            </a:r>
            <a:r>
              <a:rPr lang="es-ES" sz="1400" dirty="0"/>
              <a:t>, gap = 0,6 </a:t>
            </a:r>
            <a:r>
              <a:rPr lang="es-ES" sz="1400" dirty="0" err="1"/>
              <a:t>μm</a:t>
            </a:r>
            <a:r>
              <a:rPr lang="es-ES" sz="1400" dirty="0"/>
              <a:t>, h = 300 nm) a λ = 1,55 </a:t>
            </a:r>
            <a:r>
              <a:rPr lang="es-ES" sz="1400" dirty="0" err="1"/>
              <a:t>μm</a:t>
            </a:r>
            <a:r>
              <a:rPr lang="es-ES" sz="1400" dirty="0"/>
              <a:t>, usando los valores obtenidos previamente: L_π(TE) = 93,84 </a:t>
            </a:r>
            <a:r>
              <a:rPr lang="es-ES" sz="1400" dirty="0" err="1"/>
              <a:t>μm</a:t>
            </a:r>
            <a:r>
              <a:rPr lang="es-ES" sz="1400" dirty="0"/>
              <a:t> y L_π(TM) = 52,26 </a:t>
            </a:r>
            <a:r>
              <a:rPr lang="es-ES" sz="1400" dirty="0" err="1"/>
              <a:t>μm</a:t>
            </a:r>
            <a:r>
              <a:rPr lang="es-ES" sz="1400" dirty="0"/>
              <a:t>.</a:t>
            </a:r>
          </a:p>
          <a:p>
            <a:r>
              <a:rPr lang="es-ES" sz="1400" dirty="0"/>
              <a:t>La curva sigue la expresión K = sin²(π/2 · L/L_π), de carácter periódico. La transferencia completa de potencia (estado </a:t>
            </a:r>
            <a:r>
              <a:rPr lang="es-ES" sz="1400" dirty="0" err="1"/>
              <a:t>cross</a:t>
            </a:r>
            <a:r>
              <a:rPr lang="es-ES" sz="1400" dirty="0"/>
              <a:t>, K = 1) se alcanza en L = L_π —es decir, a 93,84 </a:t>
            </a:r>
            <a:r>
              <a:rPr lang="es-ES" sz="1400" dirty="0" err="1"/>
              <a:t>μm</a:t>
            </a:r>
            <a:r>
              <a:rPr lang="es-ES" sz="1400" dirty="0"/>
              <a:t> para TE y 52,26 </a:t>
            </a:r>
            <a:r>
              <a:rPr lang="es-ES" sz="1400" dirty="0" err="1"/>
              <a:t>μm</a:t>
            </a:r>
            <a:r>
              <a:rPr lang="es-ES" sz="1400" dirty="0"/>
              <a:t> para TM—, mientras que el reparto 50:50 (K = 0,5) se produce a L = L_π/4, marcado por la línea verde discontinua. A L = 2·L_π la potencia retorna íntegramente a la guía de entrada (estado bar, K = 0), confirmando el comportamiento oscilatorio del intercambio de potencia entre modos par e impar.</a:t>
            </a:r>
          </a:p>
          <a:p>
            <a:r>
              <a:rPr lang="es-ES" sz="1400" dirty="0"/>
              <a:t>La diferencia entre polarizaciones —con la TM acoplando aproximadamente el doble de rápido que la TE— refleja nuevamente la birrefringencia del dispositivo, ya observada en el apartado anterior.</a:t>
            </a:r>
          </a:p>
        </p:txBody>
      </p:sp>
      <p:sp>
        <p:nvSpPr>
          <p:cNvPr id="7" name="Rectángulo 6">
            <a:extLst>
              <a:ext uri="{FF2B5EF4-FFF2-40B4-BE49-F238E27FC236}">
                <a16:creationId xmlns:a16="http://schemas.microsoft.com/office/drawing/2014/main" id="{21F754A5-65BC-14A3-5F55-75716FFA9027}"/>
              </a:ext>
            </a:extLst>
          </p:cNvPr>
          <p:cNvSpPr/>
          <p:nvPr/>
        </p:nvSpPr>
        <p:spPr>
          <a:xfrm>
            <a:off x="609441" y="1126362"/>
            <a:ext cx="11199971" cy="312191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D9C65D4-5494-F5CE-1094-CB0A32C33876}"/>
              </a:ext>
            </a:extLst>
          </p:cNvPr>
          <p:cNvSpPr txBox="1"/>
          <p:nvPr/>
        </p:nvSpPr>
        <p:spPr>
          <a:xfrm>
            <a:off x="3909688" y="2609722"/>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L/</a:t>
            </a:r>
            <a:r>
              <a:rPr lang="en-US" dirty="0" err="1"/>
              <a:t>Lpi</a:t>
            </a:r>
            <a:r>
              <a:rPr lang="en-US" dirty="0"/>
              <a:t> vs K plot here</a:t>
            </a:r>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2588" y="1626040"/>
            <a:ext cx="3383313" cy="983682"/>
          </a:xfrm>
          <a:prstGeom prst="rect">
            <a:avLst/>
          </a:prstGeom>
        </p:spPr>
      </p:pic>
      <p:pic>
        <p:nvPicPr>
          <p:cNvPr id="5" name="Imagen 4">
            <a:extLst>
              <a:ext uri="{FF2B5EF4-FFF2-40B4-BE49-F238E27FC236}">
                <a16:creationId xmlns:a16="http://schemas.microsoft.com/office/drawing/2014/main" id="{06146B48-78EE-1674-2891-98C3F1F9C1DF}"/>
              </a:ext>
            </a:extLst>
          </p:cNvPr>
          <p:cNvPicPr>
            <a:picLocks noChangeAspect="1"/>
          </p:cNvPicPr>
          <p:nvPr/>
        </p:nvPicPr>
        <p:blipFill>
          <a:blip r:embed="rId5"/>
          <a:stretch>
            <a:fillRect/>
          </a:stretch>
        </p:blipFill>
        <p:spPr>
          <a:xfrm>
            <a:off x="3765901" y="1139605"/>
            <a:ext cx="5545739" cy="3059824"/>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2x2 Directional Coupler</a:t>
            </a:r>
            <a:br>
              <a:rPr lang="en-US" sz="2500" spc="-5" dirty="0">
                <a:latin typeface="+mj-lt"/>
                <a:cs typeface="Lucida Sans"/>
              </a:rPr>
            </a:br>
            <a:r>
              <a:rPr lang="en-US" b="0" dirty="0"/>
              <a:t>Wavelength 1.55 µm – Sweep gaps between 0.2 and 1.2 µm in steps of 0.2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output text here</a:t>
            </a:r>
          </a:p>
        </p:txBody>
      </p:sp>
      <p:pic>
        <p:nvPicPr>
          <p:cNvPr id="5" name="Imagen 4">
            <a:extLst>
              <a:ext uri="{FF2B5EF4-FFF2-40B4-BE49-F238E27FC236}">
                <a16:creationId xmlns:a16="http://schemas.microsoft.com/office/drawing/2014/main" id="{5A1B7049-C13C-F70D-1548-CE37A7324837}"/>
              </a:ext>
            </a:extLst>
          </p:cNvPr>
          <p:cNvPicPr>
            <a:picLocks noChangeAspect="1"/>
          </p:cNvPicPr>
          <p:nvPr/>
        </p:nvPicPr>
        <p:blipFill>
          <a:blip r:embed="rId4"/>
          <a:stretch>
            <a:fillRect/>
          </a:stretch>
        </p:blipFill>
        <p:spPr>
          <a:xfrm>
            <a:off x="669823" y="1823309"/>
            <a:ext cx="3622697" cy="1481138"/>
          </a:xfrm>
          <a:prstGeom prst="rect">
            <a:avLst/>
          </a:prstGeom>
        </p:spPr>
      </p:pic>
      <p:pic>
        <p:nvPicPr>
          <p:cNvPr id="6" name="Imagen 5">
            <a:extLst>
              <a:ext uri="{FF2B5EF4-FFF2-40B4-BE49-F238E27FC236}">
                <a16:creationId xmlns:a16="http://schemas.microsoft.com/office/drawing/2014/main" id="{3B7214FF-1650-D450-5B81-7272DA1AC3E4}"/>
              </a:ext>
            </a:extLst>
          </p:cNvPr>
          <p:cNvPicPr>
            <a:picLocks noChangeAspect="1"/>
          </p:cNvPicPr>
          <p:nvPr/>
        </p:nvPicPr>
        <p:blipFill>
          <a:blip r:embed="rId5"/>
          <a:stretch>
            <a:fillRect/>
          </a:stretch>
        </p:blipFill>
        <p:spPr>
          <a:xfrm>
            <a:off x="4352902" y="1973389"/>
            <a:ext cx="3272057" cy="1035963"/>
          </a:xfrm>
          <a:prstGeom prst="rect">
            <a:avLst/>
          </a:prstGeom>
        </p:spPr>
      </p:pic>
      <p:pic>
        <p:nvPicPr>
          <p:cNvPr id="9" name="Imagen 8">
            <a:extLst>
              <a:ext uri="{FF2B5EF4-FFF2-40B4-BE49-F238E27FC236}">
                <a16:creationId xmlns:a16="http://schemas.microsoft.com/office/drawing/2014/main" id="{620B8884-07AF-EFD7-EB4A-7DEAE65341CD}"/>
              </a:ext>
            </a:extLst>
          </p:cNvPr>
          <p:cNvPicPr>
            <a:picLocks noChangeAspect="1"/>
          </p:cNvPicPr>
          <p:nvPr/>
        </p:nvPicPr>
        <p:blipFill>
          <a:blip r:embed="rId6"/>
          <a:stretch>
            <a:fillRect/>
          </a:stretch>
        </p:blipFill>
        <p:spPr>
          <a:xfrm>
            <a:off x="7831884" y="2005842"/>
            <a:ext cx="3622697" cy="921343"/>
          </a:xfrm>
          <a:prstGeom prst="rect">
            <a:avLst/>
          </a:prstGeom>
        </p:spPr>
      </p:pic>
      <p:pic>
        <p:nvPicPr>
          <p:cNvPr id="11" name="Imagen 10">
            <a:extLst>
              <a:ext uri="{FF2B5EF4-FFF2-40B4-BE49-F238E27FC236}">
                <a16:creationId xmlns:a16="http://schemas.microsoft.com/office/drawing/2014/main" id="{833AEB14-40E1-EC0C-478A-555F931A9154}"/>
              </a:ext>
            </a:extLst>
          </p:cNvPr>
          <p:cNvPicPr>
            <a:picLocks noChangeAspect="1"/>
          </p:cNvPicPr>
          <p:nvPr/>
        </p:nvPicPr>
        <p:blipFill>
          <a:blip r:embed="rId7"/>
          <a:stretch>
            <a:fillRect/>
          </a:stretch>
        </p:blipFill>
        <p:spPr>
          <a:xfrm>
            <a:off x="1179190" y="3304385"/>
            <a:ext cx="3393999" cy="716380"/>
          </a:xfrm>
          <a:prstGeom prst="rect">
            <a:avLst/>
          </a:prstGeom>
        </p:spPr>
      </p:pic>
      <p:pic>
        <p:nvPicPr>
          <p:cNvPr id="12" name="Imagen 11">
            <a:extLst>
              <a:ext uri="{FF2B5EF4-FFF2-40B4-BE49-F238E27FC236}">
                <a16:creationId xmlns:a16="http://schemas.microsoft.com/office/drawing/2014/main" id="{BA7F3A6B-E0A9-D638-76F1-8908213F0163}"/>
              </a:ext>
            </a:extLst>
          </p:cNvPr>
          <p:cNvPicPr>
            <a:picLocks noChangeAspect="1"/>
          </p:cNvPicPr>
          <p:nvPr/>
        </p:nvPicPr>
        <p:blipFill>
          <a:blip r:embed="rId8"/>
          <a:stretch>
            <a:fillRect/>
          </a:stretch>
        </p:blipFill>
        <p:spPr>
          <a:xfrm>
            <a:off x="4611357" y="3304447"/>
            <a:ext cx="3667125" cy="678862"/>
          </a:xfrm>
          <a:prstGeom prst="rect">
            <a:avLst/>
          </a:prstGeom>
        </p:spPr>
      </p:pic>
      <p:pic>
        <p:nvPicPr>
          <p:cNvPr id="13" name="Imagen 12">
            <a:extLst>
              <a:ext uri="{FF2B5EF4-FFF2-40B4-BE49-F238E27FC236}">
                <a16:creationId xmlns:a16="http://schemas.microsoft.com/office/drawing/2014/main" id="{585B6B14-6484-A2DC-F71D-56FE4AF00E9E}"/>
              </a:ext>
            </a:extLst>
          </p:cNvPr>
          <p:cNvPicPr>
            <a:picLocks noChangeAspect="1"/>
          </p:cNvPicPr>
          <p:nvPr/>
        </p:nvPicPr>
        <p:blipFill>
          <a:blip r:embed="rId9"/>
          <a:stretch>
            <a:fillRect/>
          </a:stretch>
        </p:blipFill>
        <p:spPr>
          <a:xfrm>
            <a:off x="8500651" y="3350862"/>
            <a:ext cx="3179559" cy="539095"/>
          </a:xfrm>
          <a:prstGeom prst="rect">
            <a:avLst/>
          </a:prstGeom>
        </p:spPr>
      </p:pic>
    </p:spTree>
    <p:extLst>
      <p:ext uri="{BB962C8B-B14F-4D97-AF65-F5344CB8AC3E}">
        <p14:creationId xmlns:p14="http://schemas.microsoft.com/office/powerpoint/2010/main" val="1558326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E98CD3FC-A1E2-8EE0-D3D3-0C1C71DBF45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D98D701D-1296-FDAD-7854-60F35521A2BC}"/>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6" name="Marcador de texto 5">
            <a:extLst>
              <a:ext uri="{FF2B5EF4-FFF2-40B4-BE49-F238E27FC236}">
                <a16:creationId xmlns:a16="http://schemas.microsoft.com/office/drawing/2014/main" id="{A1EAB03D-80C8-904B-5798-1A6712BD5518}"/>
              </a:ext>
            </a:extLst>
          </p:cNvPr>
          <p:cNvSpPr txBox="1">
            <a:spLocks noGrp="1"/>
          </p:cNvSpPr>
          <p:nvPr>
            <p:ph type="body" idx="1"/>
          </p:nvPr>
        </p:nvSpPr>
        <p:spPr>
          <a:xfrm>
            <a:off x="609600" y="252563"/>
            <a:ext cx="10972800" cy="295465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 )</a:t>
            </a:r>
          </a:p>
          <a:p>
            <a:pPr algn="just"/>
            <a:endParaRPr lang="en-US" sz="1200" dirty="0">
              <a:latin typeface="Arial" panose="020B0604020202020204" pitchFamily="34" charset="0"/>
              <a:cs typeface="Arial" panose="020B0604020202020204" pitchFamily="34" charset="0"/>
            </a:endParaRPr>
          </a:p>
          <a:p>
            <a:r>
              <a:rPr lang="es-ES" sz="1400" dirty="0"/>
              <a:t>Se ha realizado un barrido del gap entre 0,2 y 1,2 </a:t>
            </a:r>
            <a:r>
              <a:rPr lang="es-ES" sz="1400" dirty="0" err="1"/>
              <a:t>μm</a:t>
            </a:r>
            <a:r>
              <a:rPr lang="es-ES" sz="1400" dirty="0"/>
              <a:t> (pasos de 0,2 </a:t>
            </a:r>
            <a:r>
              <a:rPr lang="es-ES" sz="1400" dirty="0" err="1"/>
              <a:t>μm</a:t>
            </a:r>
            <a:r>
              <a:rPr lang="es-ES" sz="1400" dirty="0"/>
              <a:t>) para la guía </a:t>
            </a:r>
            <a:r>
              <a:rPr lang="es-ES" sz="1400" dirty="0" err="1"/>
              <a:t>deep</a:t>
            </a:r>
            <a:r>
              <a:rPr lang="es-ES" sz="1400" dirty="0"/>
              <a:t> con W = 1,2 </a:t>
            </a:r>
            <a:r>
              <a:rPr lang="es-ES" sz="1400" dirty="0" err="1"/>
              <a:t>μm</a:t>
            </a:r>
            <a:r>
              <a:rPr lang="es-ES" sz="1400" dirty="0"/>
              <a:t>, h = 300 nm a λ = 1,55 </a:t>
            </a:r>
            <a:r>
              <a:rPr lang="es-ES" sz="1400" dirty="0" err="1"/>
              <a:t>μm</a:t>
            </a:r>
            <a:r>
              <a:rPr lang="es-ES" sz="1400" dirty="0"/>
              <a:t>, simulando mediante EME la propagación con L = L_π/2 (configuración 50:50) en cada caso. Los valores de longitud de batido obtenidos son: L_π(0,4 </a:t>
            </a:r>
            <a:r>
              <a:rPr lang="es-ES" sz="1400" dirty="0" err="1"/>
              <a:t>μm</a:t>
            </a:r>
            <a:r>
              <a:rPr lang="es-ES" sz="1400" dirty="0"/>
              <a:t>) = 50,11 </a:t>
            </a:r>
            <a:r>
              <a:rPr lang="es-ES" sz="1400" dirty="0" err="1"/>
              <a:t>μm</a:t>
            </a:r>
            <a:r>
              <a:rPr lang="es-ES" sz="1400" dirty="0"/>
              <a:t>, L_π(0,6 </a:t>
            </a:r>
            <a:r>
              <a:rPr lang="es-ES" sz="1400" dirty="0" err="1"/>
              <a:t>μm</a:t>
            </a:r>
            <a:r>
              <a:rPr lang="es-ES" sz="1400" dirty="0"/>
              <a:t>) = 94,03 </a:t>
            </a:r>
            <a:r>
              <a:rPr lang="es-ES" sz="1400" dirty="0" err="1"/>
              <a:t>μm</a:t>
            </a:r>
            <a:r>
              <a:rPr lang="es-ES" sz="1400" dirty="0"/>
              <a:t>, L_π(0,8 </a:t>
            </a:r>
            <a:r>
              <a:rPr lang="es-ES" sz="1400" dirty="0" err="1"/>
              <a:t>μm</a:t>
            </a:r>
            <a:r>
              <a:rPr lang="es-ES" sz="1400" dirty="0"/>
              <a:t>) = 173,96 </a:t>
            </a:r>
            <a:r>
              <a:rPr lang="es-ES" sz="1400" dirty="0" err="1"/>
              <a:t>μm</a:t>
            </a:r>
            <a:r>
              <a:rPr lang="es-ES" sz="1400" dirty="0"/>
              <a:t>, L_π(1,0 </a:t>
            </a:r>
            <a:r>
              <a:rPr lang="es-ES" sz="1400" dirty="0" err="1"/>
              <a:t>μm</a:t>
            </a:r>
            <a:r>
              <a:rPr lang="es-ES" sz="1400" dirty="0"/>
              <a:t>) = 318,88 </a:t>
            </a:r>
            <a:r>
              <a:rPr lang="es-ES" sz="1400" dirty="0" err="1"/>
              <a:t>μm</a:t>
            </a:r>
            <a:r>
              <a:rPr lang="es-ES" sz="1400" dirty="0"/>
              <a:t> y L_π(1,2 </a:t>
            </a:r>
            <a:r>
              <a:rPr lang="es-ES" sz="1400" dirty="0" err="1"/>
              <a:t>μm</a:t>
            </a:r>
            <a:r>
              <a:rPr lang="es-ES" sz="1400" dirty="0"/>
              <a:t>) = 580,43 </a:t>
            </a:r>
            <a:r>
              <a:rPr lang="es-ES" sz="1400" dirty="0" err="1"/>
              <a:t>μm</a:t>
            </a:r>
            <a:r>
              <a:rPr lang="es-ES" sz="1400" dirty="0"/>
              <a:t>.</a:t>
            </a:r>
          </a:p>
          <a:p>
            <a:endParaRPr lang="es-ES" sz="1400" dirty="0"/>
          </a:p>
          <a:p>
            <a:r>
              <a:rPr lang="es-ES" sz="1400" dirty="0"/>
              <a:t>Los resultados muestran que L_π crece de forma exponencial con el gap —multiplicándose por más de 11 al pasar de 0,4 a 1,2 </a:t>
            </a:r>
            <a:r>
              <a:rPr lang="es-ES" sz="1400" dirty="0" err="1"/>
              <a:t>μm</a:t>
            </a:r>
            <a:r>
              <a:rPr lang="es-ES" sz="1400" dirty="0"/>
              <a:t>— debido a que el solape evanescente entre guías decae exponencialmente con la separación, debilitando el batido modal y requiriendo distancias progresivamente mayores para transferir la misma potencia. La relación es por tanto inversa: cuanto mayor es el gap, menor es el coeficiente de acoplamiento κ por unidad de longitud y mayor la L_π resultante.</a:t>
            </a:r>
          </a:p>
          <a:p>
            <a:endParaRPr lang="es-ES" sz="1400" dirty="0"/>
          </a:p>
          <a:p>
            <a:r>
              <a:rPr lang="es-ES" sz="1400" dirty="0"/>
              <a:t>En todos los casos la salida presenta un reparto 50:50, lo que valida el dimensionado de la región de acoplamiento. Las pérdidas son despreciables porque la simulación EME ideal modela exclusivamente el batido modal, sin contemplar </a:t>
            </a:r>
            <a:r>
              <a:rPr lang="es-ES" sz="1400" dirty="0" err="1"/>
              <a:t>scattering</a:t>
            </a:r>
            <a:r>
              <a:rPr lang="es-ES" sz="1400" dirty="0"/>
              <a:t>, absorción ni pérdidas en las transiciones; en un dispositivo real estas contribuciones deberían tenerse en cuenta.</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87646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Parallel uncoupled waveguides – TE0 mode</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80496"/>
                <a:ext cx="4546634" cy="1477328"/>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r>
                      <a:rPr lang="es-ES" b="0" i="1" smtClean="0">
                        <a:latin typeface="Cambria Math" panose="02040503050406030204" pitchFamily="18" charset="0"/>
                      </a:rPr>
                      <m:t>𝐾</m:t>
                    </m:r>
                  </m:oMath>
                </a14:m>
                <a:r>
                  <a:rPr lang="en-US" dirty="0"/>
                  <a:t> vs gap for 10 mm </a:t>
                </a:r>
                <a:r>
                  <a:rPr lang="en-US" dirty="0" err="1"/>
                  <a:t>wvgs</a:t>
                </a:r>
                <a:r>
                  <a:rPr lang="en-US" dirty="0"/>
                  <a:t> to be uncoupled</a:t>
                </a:r>
              </a:p>
              <a:p>
                <a:pPr algn="ctr"/>
                <a:endParaRPr lang="en-US" dirty="0"/>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5"/>
                <a:stretch>
                  <a:fillRect t="-247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477328"/>
              </a:xfrm>
              <a:prstGeom prst="rect">
                <a:avLst/>
              </a:prstGeom>
              <a:noFill/>
            </p:spPr>
            <p:txBody>
              <a:bodyPr wrap="square" rtlCol="0">
                <a:spAutoFit/>
              </a:bodyPr>
              <a:lstStyle/>
              <a:p>
                <a:pPr algn="ctr"/>
                <a:r>
                  <a:rPr lang="en-US" b="1" dirty="0"/>
                  <a:t>shallow</a:t>
                </a:r>
                <a:r>
                  <a:rPr lang="en-US" dirty="0"/>
                  <a:t> waveguide</a:t>
                </a:r>
              </a:p>
              <a:p>
                <a:pPr algn="ctr"/>
                <a:r>
                  <a:rPr lang="en-US" dirty="0" err="1"/>
                  <a:t>slab_thickness</a:t>
                </a:r>
                <a:r>
                  <a:rPr lang="en-US" dirty="0"/>
                  <a:t> = 150 nm</a:t>
                </a:r>
              </a:p>
              <a:p>
                <a:pPr algn="ctr"/>
                <a:endParaRPr lang="en-US" dirty="0"/>
              </a:p>
              <a:p>
                <a:pPr algn="ctr"/>
                <a:r>
                  <a:rPr lang="en-US" dirty="0"/>
                  <a:t>Paste </a:t>
                </a:r>
                <a14:m>
                  <m:oMath xmlns:m="http://schemas.openxmlformats.org/officeDocument/2006/math">
                    <m:r>
                      <a:rPr lang="es-ES" i="1">
                        <a:latin typeface="Cambria Math" panose="02040503050406030204" pitchFamily="18" charset="0"/>
                      </a:rPr>
                      <m:t>𝐾</m:t>
                    </m:r>
                  </m:oMath>
                </a14:m>
                <a:r>
                  <a:rPr lang="en-US" dirty="0"/>
                  <a:t> vs gap for 10 mm </a:t>
                </a:r>
                <a:r>
                  <a:rPr lang="en-US" dirty="0" err="1"/>
                  <a:t>wvgs</a:t>
                </a:r>
                <a:r>
                  <a:rPr lang="en-US" dirty="0"/>
                  <a:t> to be uncoupled</a:t>
                </a:r>
              </a:p>
            </p:txBody>
          </p:sp>
        </mc:Choice>
        <mc:Fallback xmlns="">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477328"/>
              </a:xfrm>
              <a:prstGeom prst="rect">
                <a:avLst/>
              </a:prstGeom>
              <a:blipFill>
                <a:blip r:embed="rId6"/>
                <a:stretch>
                  <a:fillRect t="-2479" b="-5785"/>
                </a:stretch>
              </a:blipFill>
            </p:spPr>
            <p:txBody>
              <a:bodyPr/>
              <a:lstStyle/>
              <a:p>
                <a:r>
                  <a:rPr lang="es-ES">
                    <a:noFill/>
                  </a:rPr>
                  <a:t> </a:t>
                </a:r>
              </a:p>
            </p:txBody>
          </p:sp>
        </mc:Fallback>
      </mc:AlternateContent>
      <p:pic>
        <p:nvPicPr>
          <p:cNvPr id="11" name="Imagen 10">
            <a:extLst>
              <a:ext uri="{FF2B5EF4-FFF2-40B4-BE49-F238E27FC236}">
                <a16:creationId xmlns:a16="http://schemas.microsoft.com/office/drawing/2014/main" id="{D21CD134-98E8-63E5-E7A9-B9CF54E9F82C}"/>
              </a:ext>
            </a:extLst>
          </p:cNvPr>
          <p:cNvPicPr>
            <a:picLocks noChangeAspect="1"/>
          </p:cNvPicPr>
          <p:nvPr/>
        </p:nvPicPr>
        <p:blipFill>
          <a:blip r:embed="rId7"/>
          <a:stretch>
            <a:fillRect/>
          </a:stretch>
        </p:blipFill>
        <p:spPr>
          <a:xfrm>
            <a:off x="1386062" y="1411782"/>
            <a:ext cx="4084644" cy="3076575"/>
          </a:xfrm>
          <a:prstGeom prst="rect">
            <a:avLst/>
          </a:prstGeom>
        </p:spPr>
      </p:pic>
      <p:pic>
        <p:nvPicPr>
          <p:cNvPr id="13" name="Imagen 12">
            <a:extLst>
              <a:ext uri="{FF2B5EF4-FFF2-40B4-BE49-F238E27FC236}">
                <a16:creationId xmlns:a16="http://schemas.microsoft.com/office/drawing/2014/main" id="{764D406A-2037-E875-B954-A4788262BA53}"/>
              </a:ext>
            </a:extLst>
          </p:cNvPr>
          <p:cNvPicPr>
            <a:picLocks noChangeAspect="1"/>
          </p:cNvPicPr>
          <p:nvPr/>
        </p:nvPicPr>
        <p:blipFill>
          <a:blip r:embed="rId8"/>
          <a:stretch>
            <a:fillRect/>
          </a:stretch>
        </p:blipFill>
        <p:spPr>
          <a:xfrm>
            <a:off x="7111088" y="1333926"/>
            <a:ext cx="4091190" cy="3076575"/>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BBF75EDA-F7AE-D2A5-FCBA-DAF76A6FE7DD}"/>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FDCF859-020E-2586-F3EA-877FA702DF96}"/>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6" name="Marcador de texto 5">
            <a:extLst>
              <a:ext uri="{FF2B5EF4-FFF2-40B4-BE49-F238E27FC236}">
                <a16:creationId xmlns:a16="http://schemas.microsoft.com/office/drawing/2014/main" id="{CA5F0FDF-2A95-453B-4ECA-AEB637FF2694}"/>
              </a:ext>
            </a:extLst>
          </p:cNvPr>
          <p:cNvSpPr txBox="1">
            <a:spLocks noGrp="1"/>
          </p:cNvSpPr>
          <p:nvPr>
            <p:ph type="body" idx="1"/>
          </p:nvPr>
        </p:nvSpPr>
        <p:spPr>
          <a:xfrm>
            <a:off x="595086" y="216277"/>
            <a:ext cx="10972800" cy="4093428"/>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Hints:</a:t>
            </a:r>
          </a:p>
          <a:p>
            <a:pPr algn="just"/>
            <a:r>
              <a:rPr lang="en-US" sz="1200" dirty="0">
                <a:latin typeface="Arial" panose="020B0604020202020204" pitchFamily="34" charset="0"/>
                <a:cs typeface="Arial" panose="020B0604020202020204" pitchFamily="34" charset="0"/>
              </a:rPr>
              <a:t>All waveguides running in parallel are coupled somehow. Controlling the degree of coupling is key for those waveguides you don’t want coupling over certain level (i.e. uncoupled waveguides). Uncoupled waveguide definition, we will use K&lt;0.01. Parallel waveguide length = 10 mm (typical length of a chip). Find minimum gap shallow / deep w=1.0µm </a:t>
            </a:r>
            <a:r>
              <a:rPr lang="en-US" sz="1200" dirty="0" err="1">
                <a:latin typeface="Arial" panose="020B0604020202020204" pitchFamily="34" charset="0"/>
                <a:cs typeface="Arial" panose="020B0604020202020204" pitchFamily="34" charset="0"/>
              </a:rPr>
              <a:t>wvl</a:t>
            </a:r>
            <a:r>
              <a:rPr lang="en-US" sz="1200" dirty="0">
                <a:latin typeface="Arial" panose="020B0604020202020204" pitchFamily="34" charset="0"/>
                <a:cs typeface="Arial" panose="020B0604020202020204" pitchFamily="34" charset="0"/>
              </a:rPr>
              <a:t> 1.55 µm.</a:t>
            </a:r>
          </a:p>
          <a:p>
            <a:pPr algn="just"/>
            <a:endParaRPr lang="en-US" sz="1200" dirty="0">
              <a:latin typeface="Arial" panose="020B0604020202020204" pitchFamily="34" charset="0"/>
              <a:cs typeface="Arial" panose="020B0604020202020204" pitchFamily="34" charset="0"/>
            </a:endParaRPr>
          </a:p>
          <a:p>
            <a:r>
              <a:rPr lang="es-ES" sz="1400" dirty="0"/>
              <a:t>Se ha calculado K en función del gap para una longitud de propagación L = 10 mm, con W = 1,0 </a:t>
            </a:r>
            <a:r>
              <a:rPr lang="es-ES" sz="1400" dirty="0" err="1"/>
              <a:t>μm</a:t>
            </a:r>
            <a:r>
              <a:rPr lang="es-ES" sz="1400" dirty="0"/>
              <a:t>, λ = 1,55 </a:t>
            </a:r>
            <a:r>
              <a:rPr lang="es-ES" sz="1400" dirty="0" err="1"/>
              <a:t>μm</a:t>
            </a:r>
            <a:r>
              <a:rPr lang="es-ES" sz="1400" dirty="0"/>
              <a:t> y modo TE0. El gap mínimo para garantizar un acoplamiento despreciable (K &lt; 0,01, criterio de guías desacopladas) es de aproximadamente 4 </a:t>
            </a:r>
            <a:r>
              <a:rPr lang="es-ES" sz="1400" dirty="0" err="1"/>
              <a:t>μm</a:t>
            </a:r>
            <a:r>
              <a:rPr lang="es-ES" sz="1400" dirty="0"/>
              <a:t> para la configuración </a:t>
            </a:r>
            <a:r>
              <a:rPr lang="es-ES" sz="1400" dirty="0" err="1"/>
              <a:t>deep</a:t>
            </a:r>
            <a:r>
              <a:rPr lang="es-ES" sz="1400" dirty="0"/>
              <a:t> y 5 </a:t>
            </a:r>
            <a:r>
              <a:rPr lang="es-ES" sz="1400" dirty="0" err="1"/>
              <a:t>μm</a:t>
            </a:r>
            <a:r>
              <a:rPr lang="es-ES" sz="1400" dirty="0"/>
              <a:t> para la </a:t>
            </a:r>
            <a:r>
              <a:rPr lang="es-ES" sz="1400" dirty="0" err="1"/>
              <a:t>shallow</a:t>
            </a:r>
            <a:r>
              <a:rPr lang="es-ES" sz="1400" dirty="0"/>
              <a:t> (</a:t>
            </a:r>
            <a:r>
              <a:rPr lang="es-ES" sz="1400" dirty="0" err="1"/>
              <a:t>slab</a:t>
            </a:r>
            <a:r>
              <a:rPr lang="es-ES" sz="1400" dirty="0"/>
              <a:t> = 150 nm).</a:t>
            </a:r>
          </a:p>
          <a:p>
            <a:r>
              <a:rPr lang="es-ES" sz="1400" dirty="0"/>
              <a:t>Las oscilaciones visibles a gaps reducidos responden a que, en ese rango, L_π es mucho menor que la longitud del chip y la luz completa varios ciclos de batido a lo largo de los 10 mm, haciendo que K oscile entre 0 y 1 en función del número de L_π contenidos en L. Esta región carece de interés práctico.</a:t>
            </a:r>
          </a:p>
          <a:p>
            <a:r>
              <a:rPr lang="es-ES" sz="1400" dirty="0"/>
              <a:t>La principal conclusión es que la guía </a:t>
            </a:r>
            <a:r>
              <a:rPr lang="es-ES" sz="1400" dirty="0" err="1"/>
              <a:t>shallow</a:t>
            </a:r>
            <a:r>
              <a:rPr lang="es-ES" sz="1400" dirty="0"/>
              <a:t> requiere mayor separación entre guías para considerarlas desacopladas: el </a:t>
            </a:r>
            <a:r>
              <a:rPr lang="es-ES" sz="1400" dirty="0" err="1"/>
              <a:t>slab</a:t>
            </a:r>
            <a:r>
              <a:rPr lang="es-ES" sz="1400" dirty="0"/>
              <a:t> residual aumenta el solape evanescente y, con ello, el coeficiente κ por unidad de longitud, desplazando el umbral de desacoplamiento hacia gaps más grandes.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1118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#5 – Multimode Interference (MMI) Coupler cross-section</a:t>
            </a:r>
            <a:endParaRPr lang="en-US" sz="2500" b="0" dirty="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dirty="0"/>
                  <a:t>INSTRUCTOR:</a:t>
                </a:r>
              </a:p>
              <a:p>
                <a:pPr marL="342900" indent="-342900" algn="just">
                  <a:buFont typeface="Arial" panose="020B0604020202020204" pitchFamily="34" charset="0"/>
                  <a:buChar char="•"/>
                </a:pPr>
                <a:r>
                  <a:rPr lang="en-US" sz="2000" dirty="0"/>
                  <a:t>Present Python and </a:t>
                </a:r>
                <a:r>
                  <a:rPr lang="en-US" sz="2000" dirty="0" err="1"/>
                  <a:t>GDSFactory</a:t>
                </a:r>
                <a:r>
                  <a:rPr lang="en-US" sz="2000" dirty="0"/>
                  <a:t> implementation of DC cross-section</a:t>
                </a:r>
              </a:p>
              <a:p>
                <a:pPr marL="342900" indent="-342900" algn="just">
                  <a:buFont typeface="Arial" panose="020B0604020202020204" pitchFamily="34" charset="0"/>
                  <a:buChar char="•"/>
                </a:pPr>
                <a:r>
                  <a:rPr lang="en-US" sz="2000" dirty="0"/>
                  <a:t>Describe how to obtain the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dirty="0"/>
              </a:p>
              <a:p>
                <a:pPr marL="342900" indent="-342900" algn="just">
                  <a:buFont typeface="Arial" panose="020B0604020202020204" pitchFamily="34" charset="0"/>
                  <a:buChar char="•"/>
                </a:pPr>
                <a:r>
                  <a:rPr lang="en-US" sz="2000" dirty="0"/>
                  <a:t>Describe the outputs.</a:t>
                </a:r>
              </a:p>
              <a:p>
                <a:pPr marL="0" indent="0" algn="just">
                  <a:buNone/>
                </a:pPr>
                <a:r>
                  <a:rPr lang="en-US" sz="2000" b="1" dirty="0"/>
                  <a:t>ALL EXAMPLE #2: </a:t>
                </a:r>
                <a:r>
                  <a:rPr lang="en-US" sz="2000" dirty="0"/>
                  <a:t>waveguide width 12 µm, gap between waveguides 0.6 µm, deep </a:t>
                </a:r>
                <a:r>
                  <a:rPr lang="en-US" sz="2000" dirty="0" err="1"/>
                  <a:t>wvg</a:t>
                </a:r>
                <a:r>
                  <a:rPr lang="en-US" sz="2000" dirty="0"/>
                  <a:t>, wavelength start and end same 1.55 µm </a:t>
                </a:r>
                <a:r>
                  <a:rPr lang="en-US" sz="2000" dirty="0">
                    <a:sym typeface="Wingdings" pitchFamily="2" charset="2"/>
                  </a:rPr>
                  <a:t> all ”Run”</a:t>
                </a:r>
                <a:endParaRPr lang="en-US" sz="2000" dirty="0"/>
              </a:p>
              <a:p>
                <a:pPr marL="0" indent="0" algn="just">
                  <a:buNone/>
                </a:pPr>
                <a:r>
                  <a:rPr lang="en-US" sz="2000" b="1" dirty="0"/>
                  <a:t>ALL: </a:t>
                </a:r>
                <a:r>
                  <a:rPr lang="en-US" sz="2000" dirty="0"/>
                  <a:t>Follow</a:t>
                </a:r>
                <a:r>
                  <a:rPr lang="en-US" sz="2000" b="1" dirty="0"/>
                  <a:t> </a:t>
                </a:r>
                <a:r>
                  <a:rPr lang="en-US" sz="2000" dirty="0"/>
                  <a:t>instructor, that will show how to 1) plot mode, 2) explore the results (neff …)</a:t>
                </a:r>
              </a:p>
              <a:p>
                <a:pPr algn="just"/>
                <a:endParaRPr lang="en-US" sz="2000" b="1" i="1" u="sng" dirty="0"/>
              </a:p>
              <a:p>
                <a:pPr algn="just"/>
                <a:endParaRPr lang="en-US" sz="2000" kern="0" dirty="0">
                  <a:solidFill>
                    <a:sysClr val="windowText" lastClr="000000"/>
                  </a:solidFill>
                </a:endParaRPr>
              </a:p>
            </p:txBody>
          </p:sp>
        </mc:Choice>
        <mc:Fallback xmlns="">
          <p:sp>
            <p:nvSpPr>
              <p:cNvPr id="4" name="Marcador de texto 2">
                <a:extLst>
                  <a:ext uri="{FF2B5EF4-FFF2-40B4-BE49-F238E27FC236}">
                    <a16:creationId xmlns:a16="http://schemas.microsoft.com/office/drawing/2014/main" id="{D838A93A-BFC8-0124-93CE-FDC193435A0C}"/>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5"/>
                <a:stretch>
                  <a:fillRect l="-607" t="-738" r="-552"/>
                </a:stretch>
              </a:blipFill>
            </p:spPr>
            <p:txBody>
              <a:bodyPr/>
              <a:lstStyle/>
              <a:p>
                <a:r>
                  <a:rPr lang="es-ES">
                    <a:noFill/>
                  </a:rPr>
                  <a:t> </a:t>
                </a:r>
              </a:p>
            </p:txBody>
          </p:sp>
        </mc:Fallback>
      </mc:AlternateContent>
      <p:sp>
        <p:nvSpPr>
          <p:cNvPr id="2" name="CuadroTexto 1">
            <a:extLst>
              <a:ext uri="{FF2B5EF4-FFF2-40B4-BE49-F238E27FC236}">
                <a16:creationId xmlns:a16="http://schemas.microsoft.com/office/drawing/2014/main" id="{FDE3A197-9508-F9F1-1FEB-FF883D78C151}"/>
              </a:ext>
            </a:extLst>
          </p:cNvPr>
          <p:cNvSpPr txBox="1"/>
          <p:nvPr/>
        </p:nvSpPr>
        <p:spPr>
          <a:xfrm>
            <a:off x="685800" y="3774468"/>
            <a:ext cx="11199971" cy="255454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Document all your results (neff, plot fields of different modes, comparison between different polarizations…)</a:t>
            </a:r>
          </a:p>
          <a:p>
            <a:pPr algn="just"/>
            <a:endParaRPr lang="en-US" sz="1200" dirty="0">
              <a:latin typeface="Arial" panose="020B0604020202020204" pitchFamily="34" charset="0"/>
              <a:cs typeface="Arial" panose="020B0604020202020204" pitchFamily="34" charset="0"/>
            </a:endParaRPr>
          </a:p>
          <a:p>
            <a:r>
              <a:rPr lang="es-ES" sz="1400" dirty="0"/>
              <a:t>Se ha simulado la sección transversal de un MMI con W = 12 </a:t>
            </a:r>
            <a:r>
              <a:rPr lang="es-ES" sz="1400" dirty="0" err="1"/>
              <a:t>μm</a:t>
            </a:r>
            <a:r>
              <a:rPr lang="es-ES" sz="1400" dirty="0"/>
              <a:t>, h = 300 nm, configuración </a:t>
            </a:r>
            <a:r>
              <a:rPr lang="es-ES" sz="1400" dirty="0" err="1"/>
              <a:t>deep</a:t>
            </a:r>
            <a:r>
              <a:rPr lang="es-ES" sz="1400" dirty="0"/>
              <a:t> sobre SiO₂, a λ = 1,55 </a:t>
            </a:r>
            <a:r>
              <a:rPr lang="es-ES" sz="1400" dirty="0" err="1"/>
              <a:t>μm</a:t>
            </a:r>
            <a:r>
              <a:rPr lang="es-ES" sz="1400" dirty="0"/>
              <a:t>, obteniendo los 20 primeros modos. Mediante .</a:t>
            </a:r>
            <a:r>
              <a:rPr lang="es-ES" sz="1400" dirty="0" err="1"/>
              <a:t>fraction_te</a:t>
            </a:r>
            <a:r>
              <a:rPr lang="es-ES" sz="1400" dirty="0"/>
              <a:t> se han identificado los modos TE puros (fracción ≈ 1) y TM puros (fracción ≈ 0). Los campos confirman la estructura modal esperada: el modo 0 presenta un único lóbulo central (TE0), el modo 1 dos lóbulos de signo opuesto (TE1) y el modo 7 múltiples lóbulos alternados, característicos de un modo de orden elevado.</a:t>
            </a:r>
          </a:p>
          <a:p>
            <a:r>
              <a:rPr lang="es-ES" sz="1400" dirty="0"/>
              <a:t>Aplicando L_π = λ / [2·(n_eff,0 − n_eff,1)] se obtiene L_π = 219,41 </a:t>
            </a:r>
            <a:r>
              <a:rPr lang="es-ES" sz="1400" dirty="0" err="1"/>
              <a:t>μm</a:t>
            </a:r>
            <a:r>
              <a:rPr lang="es-ES" sz="1400" dirty="0"/>
              <a:t>, valor notablemente superior al del acoplador direccional. Esto se debe a que la mayor anchura del MMI (12 </a:t>
            </a:r>
            <a:r>
              <a:rPr lang="es-ES" sz="1400" dirty="0" err="1"/>
              <a:t>μm</a:t>
            </a:r>
            <a:r>
              <a:rPr lang="es-ES" sz="1400" dirty="0"/>
              <a:t>) provoca una casi degeneración entre los índices efectivos de los modos 0 y 1, reduciendo su diferencia y disparando L_π. La diferencia entre los </a:t>
            </a:r>
            <a:r>
              <a:rPr lang="es-ES" sz="1400" dirty="0" err="1"/>
              <a:t>n_eff</a:t>
            </a:r>
            <a:r>
              <a:rPr lang="es-ES" sz="1400" dirty="0"/>
              <a:t> de los modos TE y TM pone de manifiesto, además, la birrefringencia del MMI, originada por la asimetría vertical de la estructura </a:t>
            </a:r>
            <a:r>
              <a:rPr lang="es-ES" sz="1400" dirty="0" err="1"/>
              <a:t>guiante</a:t>
            </a:r>
            <a:r>
              <a:rPr lang="es-ES" sz="1400" dirty="0"/>
              <a:t>.</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2451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 – 6.1 2x2 Multimode Interference Coupler </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0DA14DBA-172E-DA2C-0573-6A00BF18F4A5}"/>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pic>
        <p:nvPicPr>
          <p:cNvPr id="9" name="Imagen 8">
            <a:extLst>
              <a:ext uri="{FF2B5EF4-FFF2-40B4-BE49-F238E27FC236}">
                <a16:creationId xmlns:a16="http://schemas.microsoft.com/office/drawing/2014/main" id="{88A46D41-92D1-53EC-9C9A-FF0E0BC811C3}"/>
              </a:ext>
            </a:extLst>
          </p:cNvPr>
          <p:cNvPicPr>
            <a:picLocks noChangeAspect="1"/>
          </p:cNvPicPr>
          <p:nvPr/>
        </p:nvPicPr>
        <p:blipFill>
          <a:blip r:embed="rId4"/>
          <a:stretch>
            <a:fillRect/>
          </a:stretch>
        </p:blipFill>
        <p:spPr>
          <a:xfrm>
            <a:off x="1028406" y="1982417"/>
            <a:ext cx="5381625" cy="2219325"/>
          </a:xfrm>
          <a:prstGeom prst="rect">
            <a:avLst/>
          </a:prstGeom>
        </p:spPr>
      </p:pic>
      <p:pic>
        <p:nvPicPr>
          <p:cNvPr id="11" name="Imagen 10">
            <a:extLst>
              <a:ext uri="{FF2B5EF4-FFF2-40B4-BE49-F238E27FC236}">
                <a16:creationId xmlns:a16="http://schemas.microsoft.com/office/drawing/2014/main" id="{260C992E-62A7-C9C7-82FB-0EABF820384D}"/>
              </a:ext>
            </a:extLst>
          </p:cNvPr>
          <p:cNvPicPr>
            <a:picLocks noChangeAspect="1"/>
          </p:cNvPicPr>
          <p:nvPr/>
        </p:nvPicPr>
        <p:blipFill>
          <a:blip r:embed="rId5"/>
          <a:stretch>
            <a:fillRect/>
          </a:stretch>
        </p:blipFill>
        <p:spPr>
          <a:xfrm>
            <a:off x="6413660" y="2039419"/>
            <a:ext cx="3077004" cy="2105319"/>
          </a:xfrm>
          <a:prstGeom prst="rect">
            <a:avLst/>
          </a:prstGeom>
        </p:spPr>
      </p:pic>
    </p:spTree>
    <p:extLst>
      <p:ext uri="{BB962C8B-B14F-4D97-AF65-F5344CB8AC3E}">
        <p14:creationId xmlns:p14="http://schemas.microsoft.com/office/powerpoint/2010/main" val="2815679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717E36-C827-5E85-186D-0B14D3910B5F}"/>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B08DE56A-BE1B-EFBF-4B71-C1DC1005F5C0}"/>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6" name="Marcador de texto 5">
            <a:extLst>
              <a:ext uri="{FF2B5EF4-FFF2-40B4-BE49-F238E27FC236}">
                <a16:creationId xmlns:a16="http://schemas.microsoft.com/office/drawing/2014/main" id="{B5029729-ADF3-3B30-4FF9-83BE1DB82BD7}"/>
              </a:ext>
            </a:extLst>
          </p:cNvPr>
          <p:cNvSpPr txBox="1">
            <a:spLocks noGrp="1"/>
          </p:cNvSpPr>
          <p:nvPr>
            <p:ph type="body" idx="1"/>
          </p:nvPr>
        </p:nvSpPr>
        <p:spPr>
          <a:xfrm>
            <a:off x="609600" y="361672"/>
            <a:ext cx="10972800" cy="255454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comparison with Directional Coupler… )</a:t>
            </a:r>
          </a:p>
          <a:p>
            <a:pPr algn="just"/>
            <a:endParaRPr lang="en-US" sz="1200" dirty="0">
              <a:latin typeface="Arial" panose="020B0604020202020204" pitchFamily="34" charset="0"/>
              <a:cs typeface="Arial" panose="020B0604020202020204" pitchFamily="34" charset="0"/>
            </a:endParaRPr>
          </a:p>
          <a:p>
            <a:r>
              <a:rPr lang="es-ES" sz="1400" dirty="0"/>
              <a:t>Se ha simulado un MMI 2×2 con W = 6,6 </a:t>
            </a:r>
            <a:r>
              <a:rPr lang="es-ES" sz="1400" dirty="0" err="1"/>
              <a:t>μm</a:t>
            </a:r>
            <a:r>
              <a:rPr lang="es-ES" sz="1400" dirty="0"/>
              <a:t> a λ = 1,55 </a:t>
            </a:r>
            <a:r>
              <a:rPr lang="es-ES" sz="1400" dirty="0" err="1"/>
              <a:t>μm</a:t>
            </a:r>
            <a:r>
              <a:rPr lang="es-ES" sz="1400" dirty="0"/>
              <a:t> en configuración de interferencia por pares (entradas/salidas en ±W/6, L = L_π/2). El L_π del cuerpo es de aproximadamente 69 </a:t>
            </a:r>
            <a:r>
              <a:rPr lang="es-ES" sz="1400" dirty="0" err="1"/>
              <a:t>μm</a:t>
            </a:r>
            <a:r>
              <a:rPr lang="es-ES" sz="1400" dirty="0"/>
              <a:t>, resultando en una longitud total del dispositivo de 34,52 </a:t>
            </a:r>
            <a:r>
              <a:rPr lang="es-ES" sz="1400" dirty="0" err="1"/>
              <a:t>μm</a:t>
            </a:r>
            <a:r>
              <a:rPr lang="es-ES" sz="1400" dirty="0"/>
              <a:t>. La simulación EME arroja un reparto de 51,5/48,5, prácticamente 50:50, con unas pérdidas de exceso de 0,42 dB atribuibles a las transiciones entre los puertos de acceso y la región multimodo.</a:t>
            </a:r>
          </a:p>
          <a:p>
            <a:r>
              <a:rPr lang="es-ES" sz="1400" dirty="0"/>
              <a:t>Comparado con el acoplador direccional —L_π(TE) ≈ 94 </a:t>
            </a:r>
            <a:r>
              <a:rPr lang="es-ES" sz="1400" dirty="0" err="1"/>
              <a:t>μm</a:t>
            </a:r>
            <a:r>
              <a:rPr lang="es-ES" sz="1400" dirty="0"/>
              <a:t>, longitud ≈ 47 </a:t>
            </a:r>
            <a:r>
              <a:rPr lang="es-ES" sz="1400" dirty="0" err="1"/>
              <a:t>μm</a:t>
            </a:r>
            <a:r>
              <a:rPr lang="es-ES" sz="1400" dirty="0"/>
              <a:t> para un reparto 50:50—, el MMI resulta más compacto y tolerante frente a imprecisiones de fabricación, aunque a costa de una pérdida de inserción algo mayor.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3194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#6.2 – 2x2 Multimode Interference Coupler - Optimization</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67A040A0-E11E-C5E6-7638-C2FA0CBBEC28}"/>
              </a:ext>
            </a:extLst>
          </p:cNvPr>
          <p:cNvPicPr>
            <a:picLocks noChangeAspect="1"/>
          </p:cNvPicPr>
          <p:nvPr/>
        </p:nvPicPr>
        <p:blipFill>
          <a:blip r:embed="rId4"/>
          <a:stretch>
            <a:fillRect/>
          </a:stretch>
        </p:blipFill>
        <p:spPr>
          <a:xfrm>
            <a:off x="1219200" y="1605695"/>
            <a:ext cx="6696595" cy="2564055"/>
          </a:xfrm>
          <a:prstGeom prst="rect">
            <a:avLst/>
          </a:prstGeom>
        </p:spPr>
      </p:pic>
      <p:pic>
        <p:nvPicPr>
          <p:cNvPr id="9" name="Imagen 8">
            <a:extLst>
              <a:ext uri="{FF2B5EF4-FFF2-40B4-BE49-F238E27FC236}">
                <a16:creationId xmlns:a16="http://schemas.microsoft.com/office/drawing/2014/main" id="{C8871A65-F250-7BD0-121C-1D73251097A5}"/>
              </a:ext>
            </a:extLst>
          </p:cNvPr>
          <p:cNvPicPr>
            <a:picLocks noChangeAspect="1"/>
          </p:cNvPicPr>
          <p:nvPr/>
        </p:nvPicPr>
        <p:blipFill>
          <a:blip r:embed="rId5"/>
          <a:stretch>
            <a:fillRect/>
          </a:stretch>
        </p:blipFill>
        <p:spPr>
          <a:xfrm>
            <a:off x="8077200" y="1873168"/>
            <a:ext cx="3077004" cy="2029108"/>
          </a:xfrm>
          <a:prstGeom prst="rect">
            <a:avLst/>
          </a:prstGeom>
        </p:spPr>
      </p:pic>
    </p:spTree>
    <p:extLst>
      <p:ext uri="{BB962C8B-B14F-4D97-AF65-F5344CB8AC3E}">
        <p14:creationId xmlns:p14="http://schemas.microsoft.com/office/powerpoint/2010/main" val="2685215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C2D2CCAC-26CD-BA45-9C3A-B4941BD64B7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E3DDBC10-69BE-B385-B960-023B3290218C}"/>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6" name="Marcador de texto 5">
            <a:extLst>
              <a:ext uri="{FF2B5EF4-FFF2-40B4-BE49-F238E27FC236}">
                <a16:creationId xmlns:a16="http://schemas.microsoft.com/office/drawing/2014/main" id="{43D7D9E5-DAC3-2BB8-7377-826863CBAD4E}"/>
              </a:ext>
            </a:extLst>
          </p:cNvPr>
          <p:cNvSpPr txBox="1">
            <a:spLocks noGrp="1"/>
          </p:cNvSpPr>
          <p:nvPr>
            <p:ph type="body" idx="1"/>
          </p:nvPr>
        </p:nvSpPr>
        <p:spPr>
          <a:xfrm>
            <a:off x="609600" y="381000"/>
            <a:ext cx="10972800" cy="3200876"/>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r>
              <a:rPr lang="es-ES" sz="1400" dirty="0"/>
              <a:t>Se ha llevado a cabo una optimización manual del MMI 2×2 ajustando iterativamente la longitud (</a:t>
            </a:r>
            <a:r>
              <a:rPr lang="es-ES" sz="1400" dirty="0" err="1"/>
              <a:t>dL_MMI</a:t>
            </a:r>
            <a:r>
              <a:rPr lang="es-ES" sz="1400" dirty="0"/>
              <a:t>) y la posición de los puertos (</a:t>
            </a:r>
            <a:r>
              <a:rPr lang="es-ES" sz="1400" dirty="0" err="1"/>
              <a:t>dy</a:t>
            </a:r>
            <a:r>
              <a:rPr lang="es-ES" sz="1400" dirty="0"/>
              <a:t>), buscando un reparto simétrico con mínimas pérdidas. El diseño nominal (</a:t>
            </a:r>
            <a:r>
              <a:rPr lang="es-ES" sz="1400" dirty="0" err="1"/>
              <a:t>dy</a:t>
            </a:r>
            <a:r>
              <a:rPr lang="es-ES" sz="1400" dirty="0"/>
              <a:t> = 0, </a:t>
            </a:r>
            <a:r>
              <a:rPr lang="es-ES" sz="1400" dirty="0" err="1"/>
              <a:t>dL</a:t>
            </a:r>
            <a:r>
              <a:rPr lang="es-ES" sz="1400" dirty="0"/>
              <a:t> = 0) presenta 0,42 dB de pérdidas y un ratio [0,515, 0,485]. El barrido paramétrico revela el rol diferenciado de cada variable: </a:t>
            </a:r>
            <a:r>
              <a:rPr lang="es-ES" sz="1400" dirty="0" err="1"/>
              <a:t>dy</a:t>
            </a:r>
            <a:r>
              <a:rPr lang="es-ES" sz="1400" dirty="0"/>
              <a:t> afecta principalmente a las pérdidas —desplazar los puertos respecto a la posición ideal ±W/6 reduce el solape con la imagen propia—, mientras que </a:t>
            </a:r>
            <a:r>
              <a:rPr lang="es-ES" sz="1400" dirty="0" err="1"/>
              <a:t>dL_MMI</a:t>
            </a:r>
            <a:r>
              <a:rPr lang="es-ES" sz="1400" dirty="0"/>
              <a:t> actúa sobre el balance al modificar el plano en que se forma dicha imagen. Así, aumentar </a:t>
            </a:r>
            <a:r>
              <a:rPr lang="es-ES" sz="1400" dirty="0" err="1"/>
              <a:t>dy</a:t>
            </a:r>
            <a:r>
              <a:rPr lang="es-ES" sz="1400" dirty="0"/>
              <a:t> a 0,2 </a:t>
            </a:r>
            <a:r>
              <a:rPr lang="es-ES" sz="1400" dirty="0" err="1"/>
              <a:t>μm</a:t>
            </a:r>
            <a:r>
              <a:rPr lang="es-ES" sz="1400" dirty="0"/>
              <a:t> eleva las pérdidas a 0,79 dB sin mejorar el reparto, y acortar el MMI 2 </a:t>
            </a:r>
            <a:r>
              <a:rPr lang="es-ES" sz="1400" dirty="0" err="1"/>
              <a:t>μm</a:t>
            </a:r>
            <a:r>
              <a:rPr lang="es-ES" sz="1400" dirty="0"/>
              <a:t> (</a:t>
            </a:r>
            <a:r>
              <a:rPr lang="es-ES" sz="1400" dirty="0" err="1"/>
              <a:t>dL</a:t>
            </a:r>
            <a:r>
              <a:rPr lang="es-ES" sz="1400" dirty="0"/>
              <a:t> = −2) mejora el ratio a [0,495, 0,505] pero incrementa las pérdidas hasta 0,87 dB.</a:t>
            </a:r>
          </a:p>
          <a:p>
            <a:r>
              <a:rPr lang="es-ES" sz="1400" dirty="0"/>
              <a:t>La configuración óptima encontrada, </a:t>
            </a:r>
            <a:r>
              <a:rPr lang="es-ES" sz="1400" dirty="0" err="1"/>
              <a:t>dy</a:t>
            </a:r>
            <a:r>
              <a:rPr lang="es-ES" sz="1400" dirty="0"/>
              <a:t> = 0,1 </a:t>
            </a:r>
            <a:r>
              <a:rPr lang="es-ES" sz="1400" dirty="0" err="1"/>
              <a:t>μm</a:t>
            </a:r>
            <a:r>
              <a:rPr lang="es-ES" sz="1400" dirty="0"/>
              <a:t> y </a:t>
            </a:r>
            <a:r>
              <a:rPr lang="es-ES" sz="1400" dirty="0" err="1"/>
              <a:t>dL_MMI</a:t>
            </a:r>
            <a:r>
              <a:rPr lang="es-ES" sz="1400" dirty="0"/>
              <a:t> = −1 </a:t>
            </a:r>
            <a:r>
              <a:rPr lang="es-ES" sz="1400" dirty="0" err="1"/>
              <a:t>μm</a:t>
            </a:r>
            <a:r>
              <a:rPr lang="es-ES" sz="1400" dirty="0"/>
              <a:t>, combina ambos efectos logrando un reparto prácticamente simétrico [0,495, 0,505] con pérdidas de tan solo 0,51 dB, mejorando el balance del diseño nominal con un incremento marginal de pérdidas.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4058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#6.3 – 2x2 Multimode Interference Coupler – Optimization (II)</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F4F1A316-3BB1-0F19-7BEE-1BBBA3F4B9FA}"/>
              </a:ext>
            </a:extLst>
          </p:cNvPr>
          <p:cNvPicPr>
            <a:picLocks noChangeAspect="1"/>
          </p:cNvPicPr>
          <p:nvPr/>
        </p:nvPicPr>
        <p:blipFill>
          <a:blip r:embed="rId4"/>
          <a:stretch>
            <a:fillRect/>
          </a:stretch>
        </p:blipFill>
        <p:spPr>
          <a:xfrm>
            <a:off x="1143000" y="1633591"/>
            <a:ext cx="6030507" cy="2508264"/>
          </a:xfrm>
          <a:prstGeom prst="rect">
            <a:avLst/>
          </a:prstGeom>
        </p:spPr>
      </p:pic>
      <p:pic>
        <p:nvPicPr>
          <p:cNvPr id="9" name="Imagen 8">
            <a:extLst>
              <a:ext uri="{FF2B5EF4-FFF2-40B4-BE49-F238E27FC236}">
                <a16:creationId xmlns:a16="http://schemas.microsoft.com/office/drawing/2014/main" id="{380A3879-03E2-1FEF-1E66-CA493D178225}"/>
              </a:ext>
            </a:extLst>
          </p:cNvPr>
          <p:cNvPicPr>
            <a:picLocks noChangeAspect="1"/>
          </p:cNvPicPr>
          <p:nvPr/>
        </p:nvPicPr>
        <p:blipFill>
          <a:blip r:embed="rId5"/>
          <a:stretch>
            <a:fillRect/>
          </a:stretch>
        </p:blipFill>
        <p:spPr>
          <a:xfrm>
            <a:off x="7575328" y="1887458"/>
            <a:ext cx="3124636" cy="2000529"/>
          </a:xfrm>
          <a:prstGeom prst="rect">
            <a:avLst/>
          </a:prstGeom>
        </p:spPr>
      </p:pic>
    </p:spTree>
    <p:extLst>
      <p:ext uri="{BB962C8B-B14F-4D97-AF65-F5344CB8AC3E}">
        <p14:creationId xmlns:p14="http://schemas.microsoft.com/office/powerpoint/2010/main" val="1023731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F195066-A507-C9BB-5DE4-61C9E31267B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02B4E53E-4102-9126-8592-C50A2B0E4F63}"/>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6" name="Marcador de texto 5">
            <a:extLst>
              <a:ext uri="{FF2B5EF4-FFF2-40B4-BE49-F238E27FC236}">
                <a16:creationId xmlns:a16="http://schemas.microsoft.com/office/drawing/2014/main" id="{EF5B7948-A25A-9043-7061-DD15A9023924}"/>
              </a:ext>
            </a:extLst>
          </p:cNvPr>
          <p:cNvSpPr txBox="1">
            <a:spLocks noGrp="1"/>
          </p:cNvSpPr>
          <p:nvPr>
            <p:ph type="body" idx="1"/>
          </p:nvPr>
        </p:nvSpPr>
        <p:spPr>
          <a:xfrm>
            <a:off x="609600" y="381000"/>
            <a:ext cx="10972800" cy="3570208"/>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r>
              <a:rPr lang="es-ES" sz="1400" dirty="0"/>
              <a:t>Se ha incorporado un tercer parámetro de optimización respecto al paso anterior: la anchura de las guías de entrada/salida, controlada mediante </a:t>
            </a:r>
            <a:r>
              <a:rPr lang="es-ES" sz="1400" dirty="0" err="1"/>
              <a:t>wg_width_dw</a:t>
            </a:r>
            <a:r>
              <a:rPr lang="es-ES" sz="1400" dirty="0"/>
              <a:t>. Partiendo de los valores previos (</a:t>
            </a:r>
            <a:r>
              <a:rPr lang="es-ES" sz="1400" dirty="0" err="1"/>
              <a:t>dy</a:t>
            </a:r>
            <a:r>
              <a:rPr lang="es-ES" sz="1400" dirty="0"/>
              <a:t> = 0,1 </a:t>
            </a:r>
            <a:r>
              <a:rPr lang="es-ES" sz="1400" dirty="0" err="1"/>
              <a:t>μm</a:t>
            </a:r>
            <a:r>
              <a:rPr lang="es-ES" sz="1400" dirty="0"/>
              <a:t>, </a:t>
            </a:r>
            <a:r>
              <a:rPr lang="es-ES" sz="1400" dirty="0" err="1"/>
              <a:t>dL_MMI</a:t>
            </a:r>
            <a:r>
              <a:rPr lang="es-ES" sz="1400" dirty="0"/>
              <a:t> = −0,5 </a:t>
            </a:r>
            <a:r>
              <a:rPr lang="es-ES" sz="1400" dirty="0" err="1"/>
              <a:t>μm</a:t>
            </a:r>
            <a:r>
              <a:rPr lang="es-ES" sz="1400" dirty="0"/>
              <a:t>) y barriendo </a:t>
            </a:r>
            <a:r>
              <a:rPr lang="es-ES" sz="1400" dirty="0" err="1"/>
              <a:t>wg_width_dw</a:t>
            </a:r>
            <a:r>
              <a:rPr lang="es-ES" sz="1400" dirty="0"/>
              <a:t> entre 0,0 y 0,8 </a:t>
            </a:r>
            <a:r>
              <a:rPr lang="es-ES" sz="1400" dirty="0" err="1"/>
              <a:t>μm</a:t>
            </a:r>
            <a:r>
              <a:rPr lang="es-ES" sz="1400" dirty="0"/>
              <a:t>, las pérdidas decrecen monótonamente al ensanchar las guías: 0,51 dB (</a:t>
            </a:r>
            <a:r>
              <a:rPr lang="es-ES" sz="1400" dirty="0" err="1"/>
              <a:t>wg_dw</a:t>
            </a:r>
            <a:r>
              <a:rPr lang="es-ES" sz="1400" dirty="0"/>
              <a:t> = 0), 0,33 dB (0,2 </a:t>
            </a:r>
            <a:r>
              <a:rPr lang="es-ES" sz="1400" dirty="0" err="1"/>
              <a:t>μm</a:t>
            </a:r>
            <a:r>
              <a:rPr lang="es-ES" sz="1400" dirty="0"/>
              <a:t>), 0,22 dB (0,4 </a:t>
            </a:r>
            <a:r>
              <a:rPr lang="es-ES" sz="1400" dirty="0" err="1"/>
              <a:t>μm</a:t>
            </a:r>
            <a:r>
              <a:rPr lang="es-ES" sz="1400" dirty="0"/>
              <a:t>), 0,13 dB (0,6 </a:t>
            </a:r>
            <a:r>
              <a:rPr lang="es-ES" sz="1400" dirty="0" err="1"/>
              <a:t>μm</a:t>
            </a:r>
            <a:r>
              <a:rPr lang="es-ES" sz="1400" dirty="0"/>
              <a:t>) y 0,073 dB (0,8 </a:t>
            </a:r>
            <a:r>
              <a:rPr lang="es-ES" sz="1400" dirty="0" err="1"/>
              <a:t>μm</a:t>
            </a:r>
            <a:r>
              <a:rPr lang="es-ES" sz="1400" dirty="0"/>
              <a:t>), manteniendo en todos los casos un reparto prácticamente simétrico [0,509, 0,491]. Físicamente, guías de E/S más anchas mejoran el solape con la imagen propia formada a la salida del cuerpo multimodo, reduciendo las pérdidas de transición.</a:t>
            </a:r>
          </a:p>
          <a:p>
            <a:r>
              <a:rPr lang="es-ES" sz="1400" dirty="0"/>
              <a:t>La configuración óptima (</a:t>
            </a:r>
            <a:r>
              <a:rPr lang="es-ES" sz="1400" dirty="0" err="1"/>
              <a:t>wg_width_dw</a:t>
            </a:r>
            <a:r>
              <a:rPr lang="es-ES" sz="1400" dirty="0"/>
              <a:t> = 0,8 </a:t>
            </a:r>
            <a:r>
              <a:rPr lang="es-ES" sz="1400" dirty="0" err="1"/>
              <a:t>μm</a:t>
            </a:r>
            <a:r>
              <a:rPr lang="es-ES" sz="1400" dirty="0"/>
              <a:t>, </a:t>
            </a:r>
            <a:r>
              <a:rPr lang="es-ES" sz="1400" dirty="0" err="1"/>
              <a:t>dy</a:t>
            </a:r>
            <a:r>
              <a:rPr lang="es-ES" sz="1400" dirty="0"/>
              <a:t> = 0,1 </a:t>
            </a:r>
            <a:r>
              <a:rPr lang="es-ES" sz="1400" dirty="0" err="1"/>
              <a:t>μm</a:t>
            </a:r>
            <a:r>
              <a:rPr lang="es-ES" sz="1400" dirty="0"/>
              <a:t>, </a:t>
            </a:r>
            <a:r>
              <a:rPr lang="es-ES" sz="1400" dirty="0" err="1"/>
              <a:t>dL_MMI</a:t>
            </a:r>
            <a:r>
              <a:rPr lang="es-ES" sz="1400" dirty="0"/>
              <a:t> = −0,5 </a:t>
            </a:r>
            <a:r>
              <a:rPr lang="es-ES" sz="1400" dirty="0" err="1"/>
              <a:t>μm</a:t>
            </a:r>
            <a:r>
              <a:rPr lang="es-ES" sz="1400" dirty="0"/>
              <a:t>) cumple holgadamente el criterio de diseño (pérdidas &lt; 0,1 dB, ratio ≈ 50:50), reduciendo las pérdidas a una sexta parte respecto al diseño nominal (0,42 dB → 0,073 dB). Esto demuestra que la combinación adecuada de los tres parámetros mejora drásticamente el rendimiento del MMI sin necesidad de modificar la geometría del cuerpo multimodo.</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231173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#7 – 1x4 Multimode Interference Coupler </a:t>
            </a:r>
            <a:br>
              <a:rPr lang="en-US" sz="2500" dirty="0"/>
            </a:br>
            <a:r>
              <a:rPr lang="en-US" b="0" dirty="0"/>
              <a:t>Wavelength 1.55 µm, </a:t>
            </a:r>
            <a:r>
              <a:rPr lang="en-US" b="0" dirty="0" err="1"/>
              <a:t>wMMI</a:t>
            </a:r>
            <a:r>
              <a:rPr lang="en-US" b="0" dirty="0"/>
              <a:t> = ?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3506757-32B7-9151-DA89-AADDB7F7D093}"/>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pic>
        <p:nvPicPr>
          <p:cNvPr id="5" name="Imagen 4">
            <a:extLst>
              <a:ext uri="{FF2B5EF4-FFF2-40B4-BE49-F238E27FC236}">
                <a16:creationId xmlns:a16="http://schemas.microsoft.com/office/drawing/2014/main" id="{1E92CEB8-1E26-03A6-A115-E906F99759F7}"/>
              </a:ext>
            </a:extLst>
          </p:cNvPr>
          <p:cNvPicPr>
            <a:picLocks noChangeAspect="1"/>
          </p:cNvPicPr>
          <p:nvPr/>
        </p:nvPicPr>
        <p:blipFill>
          <a:blip r:embed="rId4"/>
          <a:stretch>
            <a:fillRect/>
          </a:stretch>
        </p:blipFill>
        <p:spPr>
          <a:xfrm>
            <a:off x="3737437" y="1536213"/>
            <a:ext cx="4519613" cy="3111734"/>
          </a:xfrm>
          <a:prstGeom prst="rect">
            <a:avLst/>
          </a:prstGeom>
        </p:spPr>
      </p:pic>
    </p:spTree>
    <p:extLst>
      <p:ext uri="{BB962C8B-B14F-4D97-AF65-F5344CB8AC3E}">
        <p14:creationId xmlns:p14="http://schemas.microsoft.com/office/powerpoint/2010/main" val="699864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C0F609AB-2B78-5D15-EAFF-D061215B2FED}"/>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A08D7943-C44A-F398-7B65-8088B383E839}"/>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6" name="Marcador de texto 5">
            <a:extLst>
              <a:ext uri="{FF2B5EF4-FFF2-40B4-BE49-F238E27FC236}">
                <a16:creationId xmlns:a16="http://schemas.microsoft.com/office/drawing/2014/main" id="{42D73A2E-0E5A-8A39-6B70-F9E94D6DBB70}"/>
              </a:ext>
            </a:extLst>
          </p:cNvPr>
          <p:cNvSpPr txBox="1">
            <a:spLocks noGrp="1"/>
          </p:cNvSpPr>
          <p:nvPr>
            <p:ph type="body" idx="1"/>
          </p:nvPr>
        </p:nvSpPr>
        <p:spPr>
          <a:xfrm>
            <a:off x="591457" y="533400"/>
            <a:ext cx="10972800" cy="298543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Repeat all the design process for a 1x4 MMI Coupler.  </a:t>
            </a:r>
          </a:p>
          <a:p>
            <a:pPr algn="just"/>
            <a:endParaRPr lang="en-US" sz="1200" dirty="0">
              <a:latin typeface="Arial" panose="020B0604020202020204" pitchFamily="34" charset="0"/>
              <a:cs typeface="Arial" panose="020B0604020202020204" pitchFamily="34" charset="0"/>
            </a:endParaRPr>
          </a:p>
          <a:p>
            <a:r>
              <a:rPr lang="es-ES" sz="1400" dirty="0"/>
              <a:t>Se ha aplicado el mismo procedimiento del MMI 2×2 al diseño de un MMI 1×4, adaptando la geometría y la condición de interferencia. El cuerpo multimodo es de </a:t>
            </a:r>
            <a:r>
              <a:rPr lang="es-ES" sz="1400" dirty="0" err="1"/>
              <a:t>SiN</a:t>
            </a:r>
            <a:r>
              <a:rPr lang="es-ES" sz="1400" dirty="0"/>
              <a:t> </a:t>
            </a:r>
            <a:r>
              <a:rPr lang="es-ES" sz="1400" dirty="0" err="1"/>
              <a:t>deep-etched</a:t>
            </a:r>
            <a:r>
              <a:rPr lang="es-ES" sz="1400" dirty="0"/>
              <a:t> (h = 300 nm) con una anchura de W = 6,0 </a:t>
            </a:r>
            <a:r>
              <a:rPr lang="es-ES" sz="1400" dirty="0" err="1"/>
              <a:t>μm</a:t>
            </a:r>
            <a:r>
              <a:rPr lang="es-ES" sz="1400" dirty="0"/>
              <a:t>, elegida como compromiso entre compacidad y espacio suficiente para alojar las 4 salidas. Se han calculado 30 modos mediante </a:t>
            </a:r>
            <a:r>
              <a:rPr lang="es-ES" sz="1400" dirty="0" err="1"/>
              <a:t>find_all_modes</a:t>
            </a:r>
            <a:r>
              <a:rPr lang="es-ES" sz="1400" dirty="0"/>
              <a:t>() y L_π se ha obtenido con </a:t>
            </a:r>
            <a:r>
              <a:rPr lang="es-ES" sz="1400" dirty="0" err="1"/>
              <a:t>get_L_pi</a:t>
            </a:r>
            <a:r>
              <a:rPr lang="es-ES" sz="1400" dirty="0"/>
              <a:t>(). La configuración sigue el esquema de interferencia simétrica: entrada centrada, 4 salidas en (W/N)·[−3/2, −1/2, +1/2, +3/2] y longitud L_MMI = 3·L_π/(4·N).</a:t>
            </a:r>
          </a:p>
          <a:p>
            <a:r>
              <a:rPr lang="es-ES" sz="1400" dirty="0"/>
              <a:t>La simulación EME con L_MMI = 10,79 </a:t>
            </a:r>
            <a:r>
              <a:rPr lang="es-ES" sz="1400" dirty="0" err="1"/>
              <a:t>μm</a:t>
            </a:r>
            <a:r>
              <a:rPr lang="es-ES" sz="1400" dirty="0"/>
              <a:t> arroja un reparto [0,235, 0,265, 0,265, 0,235] con pérdidas de 0,39 dB. El resultado es prácticamente uniforme —desviación inferior al 3 % respecto al ideal de 0,25 por puerto—, con simetría preservada entre salidas. El ligero desbalance entre puertos centrales y externos podría corregirse ajustando </a:t>
            </a:r>
            <a:r>
              <a:rPr lang="es-ES" sz="1400" dirty="0" err="1"/>
              <a:t>wg_width_dw</a:t>
            </a:r>
            <a:r>
              <a:rPr lang="es-ES" sz="1400" dirty="0"/>
              <a:t> y </a:t>
            </a:r>
            <a:r>
              <a:rPr lang="es-ES" sz="1400" dirty="0" err="1"/>
              <a:t>dL_MMI</a:t>
            </a:r>
            <a:r>
              <a:rPr lang="es-ES" sz="1400" dirty="0"/>
              <a:t>, siguiendo la misma estrategia de optimización empleada en el MMI 2×2.</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92737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coupler gap dependence</a:t>
            </a:r>
            <a:br>
              <a:rPr lang="en-US" sz="2500" dirty="0"/>
            </a:br>
            <a:r>
              <a:rPr lang="en-US" b="0" dirty="0"/>
              <a:t>Wavelength 1.55 µm, width 1.0 µm, </a:t>
            </a:r>
            <a:r>
              <a:rPr lang="en-US" dirty="0"/>
              <a:t>gap 0.2-2.4 µm </a:t>
            </a:r>
            <a:r>
              <a:rPr lang="en-US" b="0" dirty="0"/>
              <a:t>(step 0.2 µm)</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D309BFB-98FD-0CBA-3C6A-346D8859893B}"/>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9BD6C85-02F1-7B54-41E3-E3D9883786D8}"/>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431A41C-EEB3-44D0-4622-A915E258C8F0}"/>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9" name="CuadroTexto 8">
                <a:extLst>
                  <a:ext uri="{FF2B5EF4-FFF2-40B4-BE49-F238E27FC236}">
                    <a16:creationId xmlns:a16="http://schemas.microsoft.com/office/drawing/2014/main" id="{7431A41C-EEB3-44D0-4622-A915E258C8F0}"/>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pic>
        <p:nvPicPr>
          <p:cNvPr id="12" name="Imagen 11">
            <a:extLst>
              <a:ext uri="{FF2B5EF4-FFF2-40B4-BE49-F238E27FC236}">
                <a16:creationId xmlns:a16="http://schemas.microsoft.com/office/drawing/2014/main" id="{B3A9160C-53ED-2932-69A4-86B905CE5627}"/>
              </a:ext>
            </a:extLst>
          </p:cNvPr>
          <p:cNvPicPr>
            <a:picLocks noChangeAspect="1"/>
          </p:cNvPicPr>
          <p:nvPr/>
        </p:nvPicPr>
        <p:blipFill>
          <a:blip r:embed="rId7"/>
          <a:stretch>
            <a:fillRect/>
          </a:stretch>
        </p:blipFill>
        <p:spPr>
          <a:xfrm>
            <a:off x="1055524" y="1693351"/>
            <a:ext cx="4419656" cy="2954820"/>
          </a:xfrm>
          <a:prstGeom prst="rect">
            <a:avLst/>
          </a:prstGeom>
        </p:spPr>
      </p:pic>
      <p:pic>
        <p:nvPicPr>
          <p:cNvPr id="14" name="Imagen 13">
            <a:extLst>
              <a:ext uri="{FF2B5EF4-FFF2-40B4-BE49-F238E27FC236}">
                <a16:creationId xmlns:a16="http://schemas.microsoft.com/office/drawing/2014/main" id="{090B7EA0-0FC3-0EAA-2091-83476B69A909}"/>
              </a:ext>
            </a:extLst>
          </p:cNvPr>
          <p:cNvPicPr>
            <a:picLocks noChangeAspect="1"/>
          </p:cNvPicPr>
          <p:nvPr/>
        </p:nvPicPr>
        <p:blipFill>
          <a:blip r:embed="rId8"/>
          <a:stretch>
            <a:fillRect/>
          </a:stretch>
        </p:blipFill>
        <p:spPr>
          <a:xfrm>
            <a:off x="7026761" y="1520808"/>
            <a:ext cx="4259843" cy="2847975"/>
          </a:xfrm>
          <a:prstGeom prst="rect">
            <a:avLst/>
          </a:prstGeom>
        </p:spPr>
      </p:pic>
    </p:spTree>
    <p:extLst>
      <p:ext uri="{BB962C8B-B14F-4D97-AF65-F5344CB8AC3E}">
        <p14:creationId xmlns:p14="http://schemas.microsoft.com/office/powerpoint/2010/main" val="1797963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68512E5A-ECD3-9158-6881-99305219301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C0656859-3161-A935-D73A-7FFBD5F101C4}"/>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6" name="Marcador de texto 5">
            <a:extLst>
              <a:ext uri="{FF2B5EF4-FFF2-40B4-BE49-F238E27FC236}">
                <a16:creationId xmlns:a16="http://schemas.microsoft.com/office/drawing/2014/main" id="{D0F8CF3B-B920-DBFC-F825-0C87B51EADA7}"/>
              </a:ext>
            </a:extLst>
          </p:cNvPr>
          <p:cNvSpPr txBox="1">
            <a:spLocks noGrp="1"/>
          </p:cNvSpPr>
          <p:nvPr>
            <p:ph type="body" idx="1"/>
          </p:nvPr>
        </p:nvSpPr>
        <p:spPr>
          <a:xfrm>
            <a:off x="598714" y="216277"/>
            <a:ext cx="10972800" cy="3231654"/>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Make conclusions and observations from your results</a:t>
            </a:r>
          </a:p>
          <a:p>
            <a:pPr algn="just"/>
            <a:endParaRPr lang="en-US" sz="1200" dirty="0">
              <a:latin typeface="Arial" panose="020B0604020202020204" pitchFamily="34" charset="0"/>
              <a:cs typeface="Arial" panose="020B0604020202020204" pitchFamily="34" charset="0"/>
            </a:endParaRPr>
          </a:p>
          <a:p>
            <a:r>
              <a:rPr lang="es-ES" sz="1400" dirty="0"/>
              <a:t>Se ha realizado un barrido del gap entre 0,2 y 2,4 </a:t>
            </a:r>
            <a:r>
              <a:rPr lang="es-ES" sz="1400" dirty="0" err="1"/>
              <a:t>μm</a:t>
            </a:r>
            <a:r>
              <a:rPr lang="es-ES" sz="1400" dirty="0"/>
              <a:t> para guías </a:t>
            </a:r>
            <a:r>
              <a:rPr lang="es-ES" sz="1400" dirty="0" err="1"/>
              <a:t>deep</a:t>
            </a:r>
            <a:r>
              <a:rPr lang="es-ES" sz="1400" dirty="0"/>
              <a:t> (</a:t>
            </a:r>
            <a:r>
              <a:rPr lang="es-ES" sz="1400" dirty="0" err="1"/>
              <a:t>slab</a:t>
            </a:r>
            <a:r>
              <a:rPr lang="es-ES" sz="1400" dirty="0"/>
              <a:t> = 0) y </a:t>
            </a:r>
            <a:r>
              <a:rPr lang="es-ES" sz="1400" dirty="0" err="1"/>
              <a:t>shallow</a:t>
            </a:r>
            <a:r>
              <a:rPr lang="es-ES" sz="1400" dirty="0"/>
              <a:t> (</a:t>
            </a:r>
            <a:r>
              <a:rPr lang="es-ES" sz="1400" dirty="0" err="1"/>
              <a:t>slab</a:t>
            </a:r>
            <a:r>
              <a:rPr lang="es-ES" sz="1400" dirty="0"/>
              <a:t> = 150 nm), con W = 1,0 </a:t>
            </a:r>
            <a:r>
              <a:rPr lang="es-ES" sz="1400" dirty="0" err="1"/>
              <a:t>μm</a:t>
            </a:r>
            <a:r>
              <a:rPr lang="es-ES" sz="1400" dirty="0"/>
              <a:t> a λ = 1,55 </a:t>
            </a:r>
            <a:r>
              <a:rPr lang="es-ES" sz="1400" dirty="0" err="1"/>
              <a:t>μm</a:t>
            </a:r>
            <a:r>
              <a:rPr lang="es-ES" sz="1400" dirty="0"/>
              <a:t>, calculando L_π para los modos TE y TM. Las cuatro curvas crecen exponencialmente con el gap —linealmente en escala logarítmica—, confirmando el decaimiento evanescente del campo.</a:t>
            </a:r>
          </a:p>
          <a:p>
            <a:r>
              <a:rPr lang="es-ES" sz="1400" dirty="0"/>
              <a:t>El resultado más relevante es la inversión del orden entre polarizaciones según la geometría: en configuración </a:t>
            </a:r>
            <a:r>
              <a:rPr lang="es-ES" sz="1400" dirty="0" err="1"/>
              <a:t>deep</a:t>
            </a:r>
            <a:r>
              <a:rPr lang="es-ES" sz="1400" dirty="0"/>
              <a:t>, L_π(TE) &gt; L_π(TM), ya que el campo </a:t>
            </a:r>
            <a:r>
              <a:rPr lang="es-ES" sz="1400" dirty="0" err="1"/>
              <a:t>Ey</a:t>
            </a:r>
            <a:r>
              <a:rPr lang="es-ES" sz="1400" dirty="0"/>
              <a:t> de la TM se extiende más hacia el gap; en configuración </a:t>
            </a:r>
            <a:r>
              <a:rPr lang="es-ES" sz="1400" dirty="0" err="1"/>
              <a:t>shallow</a:t>
            </a:r>
            <a:r>
              <a:rPr lang="es-ES" sz="1400" dirty="0"/>
              <a:t>, L_π(TM) &gt; L_π(TE), porque el </a:t>
            </a:r>
            <a:r>
              <a:rPr lang="es-ES" sz="1400" dirty="0" err="1"/>
              <a:t>slab</a:t>
            </a:r>
            <a:r>
              <a:rPr lang="es-ES" sz="1400" dirty="0"/>
              <a:t> residual conecta horizontalmente las guías y favorece el acoplamiento del campo Ex de la TE. Los puntos anómalos a gaps grandes corresponden a modos próximos al </a:t>
            </a:r>
            <a:r>
              <a:rPr lang="es-ES" sz="1400" dirty="0" err="1"/>
              <a:t>cut</a:t>
            </a:r>
            <a:r>
              <a:rPr lang="es-ES" sz="1400" dirty="0"/>
              <a:t>-off, donde el </a:t>
            </a:r>
            <a:r>
              <a:rPr lang="es-ES" sz="1400" dirty="0" err="1"/>
              <a:t>solver</a:t>
            </a:r>
            <a:r>
              <a:rPr lang="es-ES" sz="1400" dirty="0"/>
              <a:t> pierde precisión numérica.</a:t>
            </a:r>
          </a:p>
          <a:p>
            <a:r>
              <a:rPr lang="es-ES" sz="1400" dirty="0"/>
              <a:t>La conclusión es que la birrefringencia del acoplador depende fuertemente del tipo de guía: un diseño optimizado para una polarización en configuración </a:t>
            </a:r>
            <a:r>
              <a:rPr lang="es-ES" sz="1400" dirty="0" err="1"/>
              <a:t>deep</a:t>
            </a:r>
            <a:r>
              <a:rPr lang="es-ES" sz="1400" dirty="0"/>
              <a:t> no ofrece el mismo comportamiento en </a:t>
            </a:r>
            <a:r>
              <a:rPr lang="es-ES" sz="1400" dirty="0" err="1"/>
              <a:t>shallow</a:t>
            </a:r>
            <a:r>
              <a:rPr lang="es-ES" sz="1400" dirty="0"/>
              <a:t>, y viceversa.</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63291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#2 – Directional wavelength dependence</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F16E403-DF61-C9A0-D57F-2E61BEFA8887}"/>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pic>
        <p:nvPicPr>
          <p:cNvPr id="17" name="Imagen 16">
            <a:extLst>
              <a:ext uri="{FF2B5EF4-FFF2-40B4-BE49-F238E27FC236}">
                <a16:creationId xmlns:a16="http://schemas.microsoft.com/office/drawing/2014/main" id="{A4D883C1-C622-FFE9-271E-AA886CCAD747}"/>
              </a:ext>
            </a:extLst>
          </p:cNvPr>
          <p:cNvPicPr>
            <a:picLocks noChangeAspect="1"/>
          </p:cNvPicPr>
          <p:nvPr/>
        </p:nvPicPr>
        <p:blipFill>
          <a:blip r:embed="rId7"/>
          <a:stretch>
            <a:fillRect/>
          </a:stretch>
        </p:blipFill>
        <p:spPr>
          <a:xfrm>
            <a:off x="1064889" y="1557659"/>
            <a:ext cx="4546635" cy="3110507"/>
          </a:xfrm>
          <a:prstGeom prst="rect">
            <a:avLst/>
          </a:prstGeom>
        </p:spPr>
      </p:pic>
      <p:pic>
        <p:nvPicPr>
          <p:cNvPr id="19" name="Imagen 18">
            <a:extLst>
              <a:ext uri="{FF2B5EF4-FFF2-40B4-BE49-F238E27FC236}">
                <a16:creationId xmlns:a16="http://schemas.microsoft.com/office/drawing/2014/main" id="{E37B1F9B-D4E8-D535-2188-7B0568014AA3}"/>
              </a:ext>
            </a:extLst>
          </p:cNvPr>
          <p:cNvPicPr>
            <a:picLocks noChangeAspect="1"/>
          </p:cNvPicPr>
          <p:nvPr/>
        </p:nvPicPr>
        <p:blipFill>
          <a:blip r:embed="rId8"/>
          <a:stretch>
            <a:fillRect/>
          </a:stretch>
        </p:blipFill>
        <p:spPr>
          <a:xfrm>
            <a:off x="7237604" y="1650619"/>
            <a:ext cx="3838157" cy="2595588"/>
          </a:xfrm>
          <a:prstGeom prst="rect">
            <a:avLst/>
          </a:prstGeom>
        </p:spPr>
      </p:pic>
    </p:spTree>
    <p:extLst>
      <p:ext uri="{BB962C8B-B14F-4D97-AF65-F5344CB8AC3E}">
        <p14:creationId xmlns:p14="http://schemas.microsoft.com/office/powerpoint/2010/main" val="8135580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9EBF4A07-1271-B3FC-1AEC-2EE301E75C0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A2AD92A0-CE0F-3CC1-0689-59F1FD274B6C}"/>
              </a:ext>
            </a:extLst>
          </p:cNvPr>
          <p:cNvSpPr>
            <a:spLocks noGrp="1"/>
          </p:cNvSpPr>
          <p:nvPr>
            <p:ph type="sldNum" sz="quarter" idx="7"/>
          </p:nvPr>
        </p:nvSpPr>
        <p:spPr/>
        <p:txBody>
          <a:bodyPr/>
          <a:lstStyle/>
          <a:p>
            <a:fld id="{B6F15528-21DE-4FAA-801E-634DDDAF4B2B}" type="slidenum">
              <a:rPr lang="es-ES" smtClean="0"/>
              <a:t>23</a:t>
            </a:fld>
            <a:endParaRPr lang="es-ES"/>
          </a:p>
        </p:txBody>
      </p:sp>
      <p:sp>
        <p:nvSpPr>
          <p:cNvPr id="6" name="Marcador de texto 5">
            <a:extLst>
              <a:ext uri="{FF2B5EF4-FFF2-40B4-BE49-F238E27FC236}">
                <a16:creationId xmlns:a16="http://schemas.microsoft.com/office/drawing/2014/main" id="{181326FD-308E-2C47-D5D2-57B3357241AA}"/>
              </a:ext>
            </a:extLst>
          </p:cNvPr>
          <p:cNvSpPr txBox="1">
            <a:spLocks noGrp="1"/>
          </p:cNvSpPr>
          <p:nvPr>
            <p:ph type="body" idx="1"/>
          </p:nvPr>
        </p:nvSpPr>
        <p:spPr>
          <a:xfrm>
            <a:off x="584200" y="248934"/>
            <a:ext cx="10972800" cy="366254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400" dirty="0">
              <a:latin typeface="Arial" panose="020B0604020202020204" pitchFamily="34" charset="0"/>
              <a:cs typeface="Arial" panose="020B0604020202020204" pitchFamily="34" charset="0"/>
            </a:endParaRPr>
          </a:p>
          <a:p>
            <a:r>
              <a:rPr lang="es-ES" sz="1400" dirty="0"/>
              <a:t>Se ha barrido λ entre 1,5 y 1,7 </a:t>
            </a:r>
            <a:r>
              <a:rPr lang="es-ES" sz="1400" dirty="0" err="1"/>
              <a:t>μm</a:t>
            </a:r>
            <a:r>
              <a:rPr lang="es-ES" sz="1400" dirty="0"/>
              <a:t> con gap = 0,6 </a:t>
            </a:r>
            <a:r>
              <a:rPr lang="es-ES" sz="1400" dirty="0" err="1"/>
              <a:t>μm</a:t>
            </a:r>
            <a:r>
              <a:rPr lang="es-ES" sz="1400" dirty="0"/>
              <a:t> y W = 1,0 </a:t>
            </a:r>
            <a:r>
              <a:rPr lang="es-ES" sz="1400" dirty="0" err="1"/>
              <a:t>μm</a:t>
            </a:r>
            <a:r>
              <a:rPr lang="es-ES" sz="1400" dirty="0"/>
              <a:t>, calculando L_π para TE y TM en ambas configuraciones. En guía </a:t>
            </a:r>
            <a:r>
              <a:rPr lang="es-ES" sz="1400" dirty="0" err="1"/>
              <a:t>deep</a:t>
            </a:r>
            <a:r>
              <a:rPr lang="es-ES" sz="1400" dirty="0"/>
              <a:t>, las dos polarizaciones decrecen monótonamente con la longitud de onda (TE: 67 → 40 </a:t>
            </a:r>
            <a:r>
              <a:rPr lang="es-ES" sz="1400" dirty="0" err="1"/>
              <a:t>μm</a:t>
            </a:r>
            <a:r>
              <a:rPr lang="es-ES" sz="1400" dirty="0"/>
              <a:t>; TM: 41 → 31 </a:t>
            </a:r>
            <a:r>
              <a:rPr lang="es-ES" sz="1400" dirty="0" err="1"/>
              <a:t>μm</a:t>
            </a:r>
            <a:r>
              <a:rPr lang="es-ES" sz="1400" dirty="0"/>
              <a:t>), ya que al aumentar λ el modo se desconfina e incrementa el solape evanescente. Esto implica que un acoplador 50:50 diseñado a 1,55 </a:t>
            </a:r>
            <a:r>
              <a:rPr lang="es-ES" sz="1400" dirty="0" err="1"/>
              <a:t>μm</a:t>
            </a:r>
            <a:r>
              <a:rPr lang="es-ES" sz="1400" dirty="0"/>
              <a:t> sufrirá desbalance a longitudes de onda alejadas de este valor.</a:t>
            </a:r>
          </a:p>
          <a:p>
            <a:r>
              <a:rPr lang="es-ES" sz="1400" dirty="0"/>
              <a:t>En guía </a:t>
            </a:r>
            <a:r>
              <a:rPr lang="es-ES" sz="1400" dirty="0" err="1"/>
              <a:t>shallow</a:t>
            </a:r>
            <a:r>
              <a:rPr lang="es-ES" sz="1400" dirty="0"/>
              <a:t>, el comportamiento es cualitativamente distinto: la TE se mantiene prácticamente plana (~30–45 </a:t>
            </a:r>
            <a:r>
              <a:rPr lang="es-ES" sz="1400" dirty="0" err="1"/>
              <a:t>μm</a:t>
            </a:r>
            <a:r>
              <a:rPr lang="es-ES" sz="1400" dirty="0"/>
              <a:t>) a lo largo de todo el rango espectral, mientras que la TM presenta un mínimo en torno a 1,65 </a:t>
            </a:r>
            <a:r>
              <a:rPr lang="es-ES" sz="1400" dirty="0" err="1"/>
              <a:t>μm</a:t>
            </a:r>
            <a:r>
              <a:rPr lang="es-ES" sz="1400" dirty="0"/>
              <a:t> con valores notablemente elevados (400–850 </a:t>
            </a:r>
            <a:r>
              <a:rPr lang="es-ES" sz="1400" dirty="0" err="1"/>
              <a:t>μm</a:t>
            </a:r>
            <a:r>
              <a:rPr lang="es-ES" sz="1400" dirty="0"/>
              <a:t>), consecuencia de encontrarse próxima al </a:t>
            </a:r>
            <a:r>
              <a:rPr lang="es-ES" sz="1400" dirty="0" err="1"/>
              <a:t>cut</a:t>
            </a:r>
            <a:r>
              <a:rPr lang="es-ES" sz="1400" dirty="0"/>
              <a:t>-off.</a:t>
            </a:r>
          </a:p>
          <a:p>
            <a:r>
              <a:rPr lang="es-ES" sz="1400" dirty="0"/>
              <a:t>La conclusión es que la dependencia espectral depende críticamente de la geometría de la guía: la configuración </a:t>
            </a:r>
            <a:r>
              <a:rPr lang="es-ES" sz="1400" dirty="0" err="1"/>
              <a:t>shallow</a:t>
            </a:r>
            <a:r>
              <a:rPr lang="es-ES" sz="1400" dirty="0"/>
              <a:t> resulta atractiva para diseños de banda ancha en polarización TE, mientras que la </a:t>
            </a:r>
            <a:r>
              <a:rPr lang="es-ES" sz="1400" dirty="0" err="1"/>
              <a:t>deep</a:t>
            </a:r>
            <a:r>
              <a:rPr lang="es-ES" sz="1400" dirty="0"/>
              <a:t> ofrece un comportamiento más equilibrado entre polarizaciones, aunque con mayor variación absoluta de L_π a lo largo del espectro.</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094301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 – MMI coupler wavelength dependence</a:t>
            </a:r>
            <a:br>
              <a:rPr lang="en-US" sz="2500" spc="-5" dirty="0">
                <a:latin typeface="+mj-lt"/>
                <a:cs typeface="Lucida Sans"/>
              </a:rPr>
            </a:br>
            <a:r>
              <a:rPr lang="en-US" b="0" dirty="0"/>
              <a:t>Wavelengths from 1.5 to 1.7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24</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0C016548-01A2-6E58-B80D-148384B98EB3}"/>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pic>
        <p:nvPicPr>
          <p:cNvPr id="12" name="Imagen 11">
            <a:extLst>
              <a:ext uri="{FF2B5EF4-FFF2-40B4-BE49-F238E27FC236}">
                <a16:creationId xmlns:a16="http://schemas.microsoft.com/office/drawing/2014/main" id="{2C01F6F4-CE04-6FED-3F1A-877272F26EEE}"/>
              </a:ext>
            </a:extLst>
          </p:cNvPr>
          <p:cNvPicPr>
            <a:picLocks noChangeAspect="1"/>
          </p:cNvPicPr>
          <p:nvPr/>
        </p:nvPicPr>
        <p:blipFill>
          <a:blip r:embed="rId7"/>
          <a:stretch>
            <a:fillRect/>
          </a:stretch>
        </p:blipFill>
        <p:spPr>
          <a:xfrm>
            <a:off x="1295400" y="1628460"/>
            <a:ext cx="3940128" cy="2695575"/>
          </a:xfrm>
          <a:prstGeom prst="rect">
            <a:avLst/>
          </a:prstGeom>
        </p:spPr>
      </p:pic>
      <p:pic>
        <p:nvPicPr>
          <p:cNvPr id="15" name="Imagen 14">
            <a:extLst>
              <a:ext uri="{FF2B5EF4-FFF2-40B4-BE49-F238E27FC236}">
                <a16:creationId xmlns:a16="http://schemas.microsoft.com/office/drawing/2014/main" id="{CE3D5A09-4112-B1E3-A47A-34BDD94EA586}"/>
              </a:ext>
            </a:extLst>
          </p:cNvPr>
          <p:cNvPicPr>
            <a:picLocks noChangeAspect="1"/>
          </p:cNvPicPr>
          <p:nvPr/>
        </p:nvPicPr>
        <p:blipFill>
          <a:blip r:embed="rId8"/>
          <a:stretch>
            <a:fillRect/>
          </a:stretch>
        </p:blipFill>
        <p:spPr>
          <a:xfrm>
            <a:off x="7217067" y="1698343"/>
            <a:ext cx="3768796" cy="2578361"/>
          </a:xfrm>
          <a:prstGeom prst="rect">
            <a:avLst/>
          </a:prstGeom>
        </p:spPr>
      </p:pic>
    </p:spTree>
    <p:extLst>
      <p:ext uri="{BB962C8B-B14F-4D97-AF65-F5344CB8AC3E}">
        <p14:creationId xmlns:p14="http://schemas.microsoft.com/office/powerpoint/2010/main" val="9551456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31DAC6E-C376-A776-F997-883100ADB28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F3EC7324-298F-D229-888E-9289620B805E}"/>
              </a:ext>
            </a:extLst>
          </p:cNvPr>
          <p:cNvSpPr>
            <a:spLocks noGrp="1"/>
          </p:cNvSpPr>
          <p:nvPr>
            <p:ph type="sldNum" sz="quarter" idx="7"/>
          </p:nvPr>
        </p:nvSpPr>
        <p:spPr/>
        <p:txBody>
          <a:bodyPr/>
          <a:lstStyle/>
          <a:p>
            <a:fld id="{B6F15528-21DE-4FAA-801E-634DDDAF4B2B}" type="slidenum">
              <a:rPr lang="es-ES" smtClean="0"/>
              <a:t>25</a:t>
            </a:fld>
            <a:endParaRPr lang="es-ES"/>
          </a:p>
        </p:txBody>
      </p:sp>
      <p:sp>
        <p:nvSpPr>
          <p:cNvPr id="6" name="Marcador de texto 5">
            <a:extLst>
              <a:ext uri="{FF2B5EF4-FFF2-40B4-BE49-F238E27FC236}">
                <a16:creationId xmlns:a16="http://schemas.microsoft.com/office/drawing/2014/main" id="{82A62DD6-5488-72A1-9926-0CAEE59089A9}"/>
              </a:ext>
            </a:extLst>
          </p:cNvPr>
          <p:cNvSpPr txBox="1">
            <a:spLocks noGrp="1"/>
          </p:cNvSpPr>
          <p:nvPr>
            <p:ph type="body" idx="1"/>
          </p:nvPr>
        </p:nvSpPr>
        <p:spPr>
          <a:xfrm>
            <a:off x="609600" y="216277"/>
            <a:ext cx="10972800" cy="3416320"/>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(Important. Compare with Directional Coupler)</a:t>
            </a:r>
          </a:p>
          <a:p>
            <a:pPr algn="just"/>
            <a:endParaRPr lang="en-US" sz="1200" dirty="0">
              <a:latin typeface="Arial" panose="020B0604020202020204" pitchFamily="34" charset="0"/>
              <a:cs typeface="Arial" panose="020B0604020202020204" pitchFamily="34" charset="0"/>
            </a:endParaRPr>
          </a:p>
          <a:p>
            <a:r>
              <a:rPr lang="es-ES" sz="1400" dirty="0"/>
              <a:t>Se ha barrido λ entre 1,5 y 1,7 </a:t>
            </a:r>
            <a:r>
              <a:rPr lang="es-ES" sz="1400" dirty="0" err="1"/>
              <a:t>μm</a:t>
            </a:r>
            <a:r>
              <a:rPr lang="es-ES" sz="1400" dirty="0"/>
              <a:t> para un MMI con W = 6,6 </a:t>
            </a:r>
            <a:r>
              <a:rPr lang="es-ES" sz="1400" dirty="0" err="1"/>
              <a:t>μm</a:t>
            </a:r>
            <a:r>
              <a:rPr lang="es-ES" sz="1400" dirty="0"/>
              <a:t> en configuraciones </a:t>
            </a:r>
            <a:r>
              <a:rPr lang="es-ES" sz="1400" dirty="0" err="1"/>
              <a:t>deep</a:t>
            </a:r>
            <a:r>
              <a:rPr lang="es-ES" sz="1400" dirty="0"/>
              <a:t> y </a:t>
            </a:r>
            <a:r>
              <a:rPr lang="es-ES" sz="1400" dirty="0" err="1"/>
              <a:t>shallow</a:t>
            </a:r>
            <a:r>
              <a:rPr lang="es-ES" sz="1400" dirty="0"/>
              <a:t>. En ambos casos L_π decrece monótonamente con la longitud de onda: en </a:t>
            </a:r>
            <a:r>
              <a:rPr lang="es-ES" sz="1400" dirty="0" err="1"/>
              <a:t>deep</a:t>
            </a:r>
            <a:r>
              <a:rPr lang="es-ES" sz="1400" dirty="0"/>
              <a:t> pasa de 71,5 a 63,4 </a:t>
            </a:r>
            <a:r>
              <a:rPr lang="es-ES" sz="1400" dirty="0" err="1"/>
              <a:t>μm</a:t>
            </a:r>
            <a:r>
              <a:rPr lang="es-ES" sz="1400" dirty="0"/>
              <a:t> (≈11 % de variación) y en </a:t>
            </a:r>
            <a:r>
              <a:rPr lang="es-ES" sz="1400" dirty="0" err="1"/>
              <a:t>shallow</a:t>
            </a:r>
            <a:r>
              <a:rPr lang="es-ES" sz="1400" dirty="0"/>
              <a:t> de 77 a 69 </a:t>
            </a:r>
            <a:r>
              <a:rPr lang="es-ES" sz="1400" dirty="0" err="1"/>
              <a:t>μm</a:t>
            </a:r>
            <a:r>
              <a:rPr lang="es-ES" sz="1400" dirty="0"/>
              <a:t> (≈10 %), con una pendiente prácticamente lineal y casi idéntica entre ambas geometrías.</a:t>
            </a:r>
          </a:p>
          <a:p>
            <a:r>
              <a:rPr lang="es-ES" sz="1400" dirty="0"/>
              <a:t>Frente al acoplador direccional del ejercicio anterior —donde la TE </a:t>
            </a:r>
            <a:r>
              <a:rPr lang="es-ES" sz="1400" dirty="0" err="1"/>
              <a:t>deep</a:t>
            </a:r>
            <a:r>
              <a:rPr lang="es-ES" sz="1400" dirty="0"/>
              <a:t> variaba de 67 a 40 </a:t>
            </a:r>
            <a:r>
              <a:rPr lang="es-ES" sz="1400" dirty="0" err="1"/>
              <a:t>μm</a:t>
            </a:r>
            <a:r>
              <a:rPr lang="es-ES" sz="1400" dirty="0"/>
              <a:t> (≈40 %) y el comportamiento difería notablemente entre </a:t>
            </a:r>
            <a:r>
              <a:rPr lang="es-ES" sz="1400" dirty="0" err="1"/>
              <a:t>deep</a:t>
            </a:r>
            <a:r>
              <a:rPr lang="es-ES" sz="1400" dirty="0"/>
              <a:t> y </a:t>
            </a:r>
            <a:r>
              <a:rPr lang="es-ES" sz="1400" dirty="0" err="1"/>
              <a:t>shallow</a:t>
            </a:r>
            <a:r>
              <a:rPr lang="es-ES" sz="1400" dirty="0"/>
              <a:t>—, el MMI presenta una dependencia espectral significativamente más suave e independiente de la configuración. La razón es que en el MMI, L_π viene determinada únicamente por los dos primeros modos del cuerpo multimodo, cuyos índices efectivos son poco sensibles a λ, mientras que en el acoplador direccional depende del solape evanescente entre guías, que varía considerablemente al desconfinarse el modo.</a:t>
            </a:r>
          </a:p>
          <a:p>
            <a:r>
              <a:rPr lang="es-ES" sz="1400" dirty="0"/>
              <a:t>La conclusión es que el MMI es preferible para aplicaciones de banda ancha, dado que mantiene un reparto estable a lo largo del espectro, mientras que el acoplador direccional se desbalancea al alejarse de la longitud de onda de diseño.</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59558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#4 – MMI coupler body width dependence</a:t>
            </a:r>
            <a:br>
              <a:rPr lang="en-US" sz="2500" spc="-5" dirty="0">
                <a:latin typeface="+mj-lt"/>
                <a:cs typeface="Lucida Sans"/>
              </a:rPr>
            </a:br>
            <a:r>
              <a:rPr lang="en-US" b="0" dirty="0"/>
              <a:t>Wavelength 1.55 µm, </a:t>
            </a:r>
            <a:r>
              <a:rPr lang="en-US" b="0" dirty="0" err="1"/>
              <a:t>wMMI</a:t>
            </a:r>
            <a:r>
              <a:rPr lang="en-US" b="0" dirty="0"/>
              <a:t> = 5-10 µm (steps 0.5 µm)</a:t>
            </a:r>
            <a:endParaRPr lang="en-US" sz="2500" b="0" dirty="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26</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154B5534-E510-6404-1E30-B73FDF73AD42}"/>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pic>
        <p:nvPicPr>
          <p:cNvPr id="12" name="Imagen 11">
            <a:extLst>
              <a:ext uri="{FF2B5EF4-FFF2-40B4-BE49-F238E27FC236}">
                <a16:creationId xmlns:a16="http://schemas.microsoft.com/office/drawing/2014/main" id="{9F239B34-A62F-F9FD-4B0C-083BAA5A7673}"/>
              </a:ext>
            </a:extLst>
          </p:cNvPr>
          <p:cNvPicPr>
            <a:picLocks noChangeAspect="1"/>
          </p:cNvPicPr>
          <p:nvPr/>
        </p:nvPicPr>
        <p:blipFill>
          <a:blip r:embed="rId7"/>
          <a:stretch>
            <a:fillRect/>
          </a:stretch>
        </p:blipFill>
        <p:spPr>
          <a:xfrm>
            <a:off x="7226203" y="1469645"/>
            <a:ext cx="3871880" cy="2618394"/>
          </a:xfrm>
          <a:prstGeom prst="rect">
            <a:avLst/>
          </a:prstGeom>
        </p:spPr>
      </p:pic>
      <p:pic>
        <p:nvPicPr>
          <p:cNvPr id="14" name="Imagen 13">
            <a:extLst>
              <a:ext uri="{FF2B5EF4-FFF2-40B4-BE49-F238E27FC236}">
                <a16:creationId xmlns:a16="http://schemas.microsoft.com/office/drawing/2014/main" id="{A5B0FDAF-1127-479E-CF58-E858358FDD6C}"/>
              </a:ext>
            </a:extLst>
          </p:cNvPr>
          <p:cNvPicPr>
            <a:picLocks noChangeAspect="1"/>
          </p:cNvPicPr>
          <p:nvPr/>
        </p:nvPicPr>
        <p:blipFill>
          <a:blip r:embed="rId8"/>
          <a:stretch>
            <a:fillRect/>
          </a:stretch>
        </p:blipFill>
        <p:spPr>
          <a:xfrm>
            <a:off x="1064889" y="1636807"/>
            <a:ext cx="4546635" cy="3074703"/>
          </a:xfrm>
          <a:prstGeom prst="rect">
            <a:avLst/>
          </a:prstGeom>
        </p:spPr>
      </p:pic>
    </p:spTree>
    <p:extLst>
      <p:ext uri="{BB962C8B-B14F-4D97-AF65-F5344CB8AC3E}">
        <p14:creationId xmlns:p14="http://schemas.microsoft.com/office/powerpoint/2010/main" val="5359394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53458EFE-722E-0488-FFF2-9AE1243783E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805DA690-AFAD-9C76-6B7B-D0769142F981}"/>
              </a:ext>
            </a:extLst>
          </p:cNvPr>
          <p:cNvSpPr>
            <a:spLocks noGrp="1"/>
          </p:cNvSpPr>
          <p:nvPr>
            <p:ph type="sldNum" sz="quarter" idx="7"/>
          </p:nvPr>
        </p:nvSpPr>
        <p:spPr/>
        <p:txBody>
          <a:bodyPr/>
          <a:lstStyle/>
          <a:p>
            <a:fld id="{B6F15528-21DE-4FAA-801E-634DDDAF4B2B}" type="slidenum">
              <a:rPr lang="es-ES" smtClean="0"/>
              <a:t>27</a:t>
            </a:fld>
            <a:endParaRPr lang="es-ES"/>
          </a:p>
        </p:txBody>
      </p:sp>
      <p:sp>
        <p:nvSpPr>
          <p:cNvPr id="6" name="Marcador de texto 5">
            <a:extLst>
              <a:ext uri="{FF2B5EF4-FFF2-40B4-BE49-F238E27FC236}">
                <a16:creationId xmlns:a16="http://schemas.microsoft.com/office/drawing/2014/main" id="{8D88CB07-C5F5-9BB7-9F41-E171F0F0E2B9}"/>
              </a:ext>
            </a:extLst>
          </p:cNvPr>
          <p:cNvSpPr txBox="1">
            <a:spLocks noGrp="1"/>
          </p:cNvSpPr>
          <p:nvPr>
            <p:ph type="body" idx="1"/>
          </p:nvPr>
        </p:nvSpPr>
        <p:spPr>
          <a:xfrm>
            <a:off x="609600" y="381000"/>
            <a:ext cx="10972800" cy="36317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Polarization independent coupler: is there any point for which the MMI coupler can work identically for TE and TM? Answer yes / no and explain why?</a:t>
            </a:r>
          </a:p>
          <a:p>
            <a:pPr algn="just"/>
            <a:endParaRPr lang="en-US" sz="1400" dirty="0">
              <a:latin typeface="Arial" panose="020B0604020202020204" pitchFamily="34" charset="0"/>
              <a:cs typeface="Arial" panose="020B0604020202020204" pitchFamily="34" charset="0"/>
            </a:endParaRPr>
          </a:p>
          <a:p>
            <a:r>
              <a:rPr lang="es-ES" sz="1400" dirty="0"/>
              <a:t>Se ha identificado un punto de operación donde el MMI funciona de forma prácticamente equivalente para ambas polarizaciones: en las dos configuraciones (</a:t>
            </a:r>
            <a:r>
              <a:rPr lang="es-ES" sz="1400" dirty="0" err="1"/>
              <a:t>deep</a:t>
            </a:r>
            <a:r>
              <a:rPr lang="es-ES" sz="1400" dirty="0"/>
              <a:t> y </a:t>
            </a:r>
            <a:r>
              <a:rPr lang="es-ES" sz="1400" dirty="0" err="1"/>
              <a:t>shallow</a:t>
            </a:r>
            <a:r>
              <a:rPr lang="es-ES" sz="1400" dirty="0"/>
              <a:t>), las curvas L_π(TE) y L_π(TM) convergen al aumentar W y se cruzan en torno a W ≈ 10 </a:t>
            </a:r>
            <a:r>
              <a:rPr lang="es-ES" sz="1400" dirty="0" err="1"/>
              <a:t>μm</a:t>
            </a:r>
            <a:r>
              <a:rPr lang="es-ES" sz="1400" dirty="0"/>
              <a:t>, con L_π ≈ 155 </a:t>
            </a:r>
            <a:r>
              <a:rPr lang="es-ES" sz="1400" dirty="0" err="1"/>
              <a:t>μm</a:t>
            </a:r>
            <a:r>
              <a:rPr lang="es-ES" sz="1400" dirty="0"/>
              <a:t> en </a:t>
            </a:r>
            <a:r>
              <a:rPr lang="es-ES" sz="1400" dirty="0" err="1"/>
              <a:t>deep</a:t>
            </a:r>
            <a:r>
              <a:rPr lang="es-ES" sz="1400" dirty="0"/>
              <a:t> y ≈ 161 </a:t>
            </a:r>
            <a:r>
              <a:rPr lang="es-ES" sz="1400" dirty="0" err="1"/>
              <a:t>μm</a:t>
            </a:r>
            <a:r>
              <a:rPr lang="es-ES" sz="1400" dirty="0"/>
              <a:t> en </a:t>
            </a:r>
            <a:r>
              <a:rPr lang="es-ES" sz="1400" dirty="0" err="1"/>
              <a:t>shallow</a:t>
            </a:r>
            <a:r>
              <a:rPr lang="es-ES" sz="1400" dirty="0"/>
              <a:t>.</a:t>
            </a:r>
          </a:p>
          <a:p>
            <a:r>
              <a:rPr lang="es-ES" sz="1400" dirty="0"/>
              <a:t>La razón física es que al ensancharse el cuerpo multimodo, la diferencia entre los índices efectivos de los modos 0 y 1 deja de estar gobernada por el confinamiento lateral —que es asimétrico para TE y TM— y pasa a estar dominada por el confinamiento vertical, idéntico para ambas polarizaciones al fijar h y los materiales. Un MMI con W ≈ 10 </a:t>
            </a:r>
            <a:r>
              <a:rPr lang="es-ES" sz="1400" dirty="0" err="1"/>
              <a:t>μm</a:t>
            </a:r>
            <a:r>
              <a:rPr lang="es-ES" sz="1400" dirty="0"/>
              <a:t> permite así obtener un acoplador prácticamente independiente de polarización, a costa de un dispositivo más largo.</a:t>
            </a:r>
          </a:p>
          <a:p>
            <a:r>
              <a:rPr lang="es-ES" sz="1400" dirty="0"/>
              <a:t>Para anchuras menores (W entre 5 y 7 </a:t>
            </a:r>
            <a:r>
              <a:rPr lang="es-ES" sz="1400" dirty="0" err="1"/>
              <a:t>μm</a:t>
            </a:r>
            <a:r>
              <a:rPr lang="es-ES" sz="1400" dirty="0"/>
              <a:t>), las curvas se separan y el MMI recupera un comportamiento birrefringente, lo que debe tenerse en cuenta en diseños donde la polarización no está controlada.</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75111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28</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1457</TotalTime>
  <Words>3843</Words>
  <Application>Microsoft Office PowerPoint</Application>
  <PresentationFormat>Panorámica</PresentationFormat>
  <Paragraphs>276</Paragraphs>
  <Slides>28</Slides>
  <Notes>13</Notes>
  <HiddenSlides>0</HiddenSlides>
  <MMClips>0</MMClips>
  <ScaleCrop>false</ScaleCrop>
  <HeadingPairs>
    <vt:vector size="4" baseType="variant">
      <vt:variant>
        <vt:lpstr>Tema</vt:lpstr>
      </vt:variant>
      <vt:variant>
        <vt:i4>1</vt:i4>
      </vt:variant>
      <vt:variant>
        <vt:lpstr>Títulos de diapositiva</vt:lpstr>
      </vt:variant>
      <vt:variant>
        <vt:i4>28</vt:i4>
      </vt:variant>
    </vt:vector>
  </HeadingPairs>
  <TitlesOfParts>
    <vt:vector size="29" baseType="lpstr">
      <vt:lpstr>Office Theme</vt:lpstr>
      <vt:lpstr>Presentación de PowerPoint</vt:lpstr>
      <vt:lpstr>Instructions General</vt:lpstr>
      <vt:lpstr>Presentación de PowerPoint</vt:lpstr>
      <vt:lpstr>Learning outcome #1 – Directional coupler cross-section in GDSFactory </vt:lpstr>
      <vt:lpstr>Learning outcome #2 – Directional coupler length and coupling coefficient Wavelength 1.5 µm – width 1.2 µm – gap 0.6 µm – thickness 300 nm</vt:lpstr>
      <vt:lpstr>Learning outcome #3 – 2x2 Directional Coupler Wavelength 1.55 µm – Sweep gaps between 0.2 and 1.2 µm in steps of 0.2 µm</vt:lpstr>
      <vt:lpstr>Presentación de PowerPoint</vt:lpstr>
      <vt:lpstr>Learning outcome #4 – Parallel uncoupled waveguides – TE0 mode Wavelength 1.55 µm, width 1.0 µm, gap to be found for uncoupled wvgs</vt:lpstr>
      <vt:lpstr>Presentación de PowerPoint</vt:lpstr>
      <vt:lpstr>Presentación de PowerPoint</vt:lpstr>
      <vt:lpstr>Learning outcome #5 – Multimode Interference (MMI) Coupler cross-section</vt:lpstr>
      <vt:lpstr>Learning outcome #6 – 6.1 2x2 Multimode Interference Coupler  Wavelength 1.55 µm, wMMI = 6.6 µm</vt:lpstr>
      <vt:lpstr>Presentación de PowerPoint</vt:lpstr>
      <vt:lpstr>Learning outcome #6.2 – 2x2 Multimode Interference Coupler - Optimization Wavelength 1.55 µm, wMMI = 6.6 µm</vt:lpstr>
      <vt:lpstr>Presentación de PowerPoint</vt:lpstr>
      <vt:lpstr>Learning outcome #6.3 – 2x2 Multimode Interference Coupler – Optimization (II) Wavelength 1.55 µm, wMMI = 6.6 µm</vt:lpstr>
      <vt:lpstr>Presentación de PowerPoint</vt:lpstr>
      <vt:lpstr>Learning outcome #7 – 1x4 Multimode Interference Coupler  Wavelength 1.55 µm, wMMI = ? µm</vt:lpstr>
      <vt:lpstr>Presentación de PowerPoint</vt:lpstr>
      <vt:lpstr>Extra #1 – Directional coupler gap dependence Wavelength 1.55 µm, width 1.0 µm, gap 0.2-2.4 µm (step 0.2 µm) </vt:lpstr>
      <vt:lpstr>Presentación de PowerPoint</vt:lpstr>
      <vt:lpstr>Extra #2 – Directional wavelength dependence Wavelengths from 1.5 to 1.7 µm, gap = 0.6 µm, width 1.0 µm  </vt:lpstr>
      <vt:lpstr>Presentación de PowerPoint</vt:lpstr>
      <vt:lpstr>Extra #3 – MMI coupler wavelength dependence Wavelengths from 1.5 to 1.7 µm, wMMI = 6.6 µm</vt:lpstr>
      <vt:lpstr>Presentación de PowerPoint</vt:lpstr>
      <vt:lpstr>Extra #4 – MMI coupler body width dependence Wavelength 1.55 µm, wMMI = 5-10 µm (steps 0.5 µm)</vt:lpstr>
      <vt:lpstr>Presentación de PowerPoint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Arnau Bernabeu Corbi</cp:lastModifiedBy>
  <cp:revision>16</cp:revision>
  <dcterms:created xsi:type="dcterms:W3CDTF">2025-01-27T02:46:57Z</dcterms:created>
  <dcterms:modified xsi:type="dcterms:W3CDTF">2026-05-03T14:40:42Z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